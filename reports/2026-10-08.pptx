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6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01752"/>
            <a:ext cx="2011680" cy="22860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1">
                <a:solidFill>
                  <a:srgbClr val="65707D"/>
                </a:solidFill>
                <a:latin typeface="Microsoft YaHei"/>
              </a:rPr>
              <a:t>FUND TRACKER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30352"/>
            <a:ext cx="8046720" cy="4114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2400" b="1">
                <a:solidFill>
                  <a:srgbClr val="1A2026"/>
                </a:solidFill>
                <a:latin typeface="Microsoft YaHei"/>
              </a:rPr>
              <a:t>基金组合日报 2026-10-08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042415"/>
            <a:ext cx="11201400" cy="9144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21792" y="1417320"/>
            <a:ext cx="5303520" cy="50292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2800" b="1">
                <a:solidFill>
                  <a:srgbClr val="1A2026"/>
                </a:solidFill>
                <a:latin typeface="Microsoft YaHei"/>
              </a:rPr>
              <a:t>真实净值驱动的每日组合快照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965960"/>
            <a:ext cx="6035040" cy="38404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400" b="0">
                <a:solidFill>
                  <a:srgbClr val="65707D"/>
                </a:solidFill>
                <a:latin typeface="Microsoft YaHei"/>
              </a:rPr>
              <a:t>含收益表现、回撤波动、数据源状态与高风险基金提示。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2788920"/>
            <a:ext cx="2331720" cy="1325880"/>
          </a:xfrm>
          <a:prstGeom prst="rect">
            <a:avLst/>
          </a:prstGeom>
          <a:solidFill>
            <a:srgbClr val="FFFDF8"/>
          </a:solidFill>
          <a:ln w="6350">
            <a:solidFill>
              <a:srgbClr val="DAD5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7" y="2953512"/>
            <a:ext cx="1929384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1">
                <a:solidFill>
                  <a:srgbClr val="65707D"/>
                </a:solidFill>
                <a:latin typeface="Microsoft YaHei"/>
              </a:rPr>
              <a:t>平均日涨跌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7" y="3218687"/>
            <a:ext cx="1929384" cy="38404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2400" b="1">
                <a:solidFill>
                  <a:srgbClr val="BF4040"/>
                </a:solidFill>
                <a:latin typeface="Microsoft YaHei"/>
              </a:rPr>
              <a:t>-0.11%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7" y="3685031"/>
            <a:ext cx="1929384" cy="256032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65707D"/>
                </a:solidFill>
                <a:latin typeface="Microsoft YaHei"/>
              </a:rPr>
              <a:t>五只基金简单平均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46120" y="2788920"/>
            <a:ext cx="2331720" cy="1325880"/>
          </a:xfrm>
          <a:prstGeom prst="rect">
            <a:avLst/>
          </a:prstGeom>
          <a:solidFill>
            <a:srgbClr val="FFFDF8"/>
          </a:solidFill>
          <a:ln w="6350">
            <a:solidFill>
              <a:srgbClr val="DAD5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447288" y="2953512"/>
            <a:ext cx="1929384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1">
                <a:solidFill>
                  <a:srgbClr val="65707D"/>
                </a:solidFill>
                <a:latin typeface="Microsoft YaHei"/>
              </a:rPr>
              <a:t>平均近1月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47288" y="3218687"/>
            <a:ext cx="1929384" cy="38404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2400" b="1">
                <a:solidFill>
                  <a:srgbClr val="BF4040"/>
                </a:solidFill>
                <a:latin typeface="Microsoft YaHei"/>
              </a:rPr>
              <a:t>-2.63%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47288" y="3685031"/>
            <a:ext cx="1929384" cy="256032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65707D"/>
                </a:solidFill>
                <a:latin typeface="Microsoft YaHei"/>
              </a:rPr>
              <a:t>五只基金简单平均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852160" y="2788920"/>
            <a:ext cx="2331720" cy="1325880"/>
          </a:xfrm>
          <a:prstGeom prst="rect">
            <a:avLst/>
          </a:prstGeom>
          <a:solidFill>
            <a:srgbClr val="FFFDF8"/>
          </a:solidFill>
          <a:ln w="6350">
            <a:solidFill>
              <a:srgbClr val="DAD5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053328" y="2953512"/>
            <a:ext cx="1929384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1">
                <a:solidFill>
                  <a:srgbClr val="65707D"/>
                </a:solidFill>
                <a:latin typeface="Microsoft YaHei"/>
              </a:rPr>
              <a:t>高风险关注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053328" y="3218687"/>
            <a:ext cx="1929384" cy="38404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2400" b="1">
                <a:solidFill>
                  <a:srgbClr val="BF4040"/>
                </a:solidFill>
                <a:latin typeface="Microsoft YaHei"/>
              </a:rP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053328" y="3685031"/>
            <a:ext cx="1929384" cy="256032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65707D"/>
                </a:solidFill>
                <a:latin typeface="Microsoft YaHei"/>
              </a:rPr>
              <a:t>回撤或波动触发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458200" y="2788920"/>
            <a:ext cx="2331720" cy="1325880"/>
          </a:xfrm>
          <a:prstGeom prst="rect">
            <a:avLst/>
          </a:prstGeom>
          <a:solidFill>
            <a:srgbClr val="FFFDF8"/>
          </a:solidFill>
          <a:ln w="6350">
            <a:solidFill>
              <a:srgbClr val="DAD5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659368" y="2953512"/>
            <a:ext cx="1929384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1">
                <a:solidFill>
                  <a:srgbClr val="65707D"/>
                </a:solidFill>
                <a:latin typeface="Microsoft YaHei"/>
              </a:rPr>
              <a:t>Fallback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59368" y="3218687"/>
            <a:ext cx="1929384" cy="38404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2400" b="1">
                <a:solidFill>
                  <a:srgbClr val="198974"/>
                </a:solidFill>
                <a:latin typeface="Microsoft YaHei"/>
              </a:rPr>
              <a:t>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59368" y="3685031"/>
            <a:ext cx="1929384" cy="256032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65707D"/>
                </a:solidFill>
                <a:latin typeface="Microsoft YaHei"/>
              </a:rPr>
              <a:t>真实数据失败数量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" y="4709160"/>
            <a:ext cx="2560320" cy="256032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100" b="1">
                <a:solidFill>
                  <a:srgbClr val="1A2026"/>
                </a:solidFill>
                <a:latin typeface="Microsoft YaHei"/>
              </a:rPr>
              <a:t>今日风险判断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40080" y="5047488"/>
            <a:ext cx="10149840" cy="731520"/>
          </a:xfrm>
          <a:prstGeom prst="rect">
            <a:avLst/>
          </a:prstGeom>
          <a:solidFill>
            <a:srgbClr val="FFFDF8"/>
          </a:solidFill>
          <a:ln w="6350">
            <a:solidFill>
              <a:srgbClr val="DAD5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68680" y="5248656"/>
            <a:ext cx="9555480" cy="31089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600" b="1">
                <a:solidFill>
                  <a:srgbClr val="BF4040"/>
                </a:solidFill>
                <a:latin typeface="Microsoft YaHei"/>
              </a:rPr>
              <a:t>存在高风险关注基金，建议复核 QDII 汇率、海外科技股估值与短期回撤。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6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01752"/>
            <a:ext cx="2011680" cy="22860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1">
                <a:solidFill>
                  <a:srgbClr val="65707D"/>
                </a:solidFill>
                <a:latin typeface="Microsoft YaHei"/>
              </a:rPr>
              <a:t>RETURNS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30352"/>
            <a:ext cx="8046720" cy="4114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2400" b="1">
                <a:solidFill>
                  <a:srgbClr val="1A2026"/>
                </a:solidFill>
                <a:latin typeface="Microsoft YaHei"/>
              </a:rPr>
              <a:t>收益表现：近1月分化明显，QDII 贡献主要波动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042415"/>
            <a:ext cx="11201400" cy="9144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371600"/>
            <a:ext cx="338328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100" b="1">
                <a:solidFill>
                  <a:srgbClr val="1A2026"/>
                </a:solidFill>
                <a:latin typeface="Microsoft YaHei"/>
              </a:rPr>
              <a:t>当日涨跌幅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737360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华夏沪深300E</a:t>
            </a:r>
          </a:p>
        </p:txBody>
      </p:sp>
      <p:sp>
        <p:nvSpPr>
          <p:cNvPr id="7" name="Rectangle 6"/>
          <p:cNvSpPr/>
          <p:nvPr/>
        </p:nvSpPr>
        <p:spPr>
          <a:xfrm>
            <a:off x="2423160" y="1810512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423160" y="1792224"/>
            <a:ext cx="269893" cy="146304"/>
          </a:xfrm>
          <a:prstGeom prst="rect">
            <a:avLst/>
          </a:prstGeom>
          <a:solidFill>
            <a:srgbClr val="1989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738773" y="1746504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0.29%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121408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富国红利精选QD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423160" y="2194560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423160" y="2176272"/>
            <a:ext cx="25553" cy="146304"/>
          </a:xfrm>
          <a:prstGeom prst="rect">
            <a:avLst/>
          </a:prstGeom>
          <a:solidFill>
            <a:srgbClr val="1989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494433" y="2130552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0.03%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2505456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纳斯达克100指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423160" y="2578608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423160" y="2560320"/>
            <a:ext cx="67750" cy="146304"/>
          </a:xfrm>
          <a:prstGeom prst="rect">
            <a:avLst/>
          </a:prstGeom>
          <a:solidFill>
            <a:srgbClr val="1989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536630" y="2514600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0.07%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2889503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兴全安泰积极养老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423160" y="2962656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1097280" y="2944368"/>
            <a:ext cx="1325880" cy="146304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468879" y="2898648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-1.41%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3273551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易方达全球优质企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423160" y="3346703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2423160" y="3328415"/>
            <a:ext cx="437016" cy="146304"/>
          </a:xfrm>
          <a:prstGeom prst="rect">
            <a:avLst/>
          </a:prstGeom>
          <a:solidFill>
            <a:srgbClr val="1989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905896" y="3282696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0.47%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251960" y="1371600"/>
            <a:ext cx="338328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100" b="1">
                <a:solidFill>
                  <a:srgbClr val="1A2026"/>
                </a:solidFill>
                <a:latin typeface="Microsoft YaHei"/>
              </a:rPr>
              <a:t>近1周收益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251960" y="1737360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华夏沪深300E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035040" y="1810512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4710459" y="1792224"/>
            <a:ext cx="1324580" cy="146304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080760" y="1746504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-3.86%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251960" y="2121408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富国红利精选QD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035040" y="2194560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5398729" y="2176272"/>
            <a:ext cx="636310" cy="146304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080760" y="2130552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-1.85%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251960" y="2505456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纳斯达克100指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035040" y="2578608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5934655" y="2560320"/>
            <a:ext cx="100384" cy="146304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080760" y="2514600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-0.29%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251960" y="2889503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兴全安泰积极养老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035040" y="2962656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5267977" y="2944368"/>
            <a:ext cx="767062" cy="146304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080760" y="2898648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-2.24%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251960" y="3273551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易方达全球优质企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035040" y="3346703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4709160" y="3328415"/>
            <a:ext cx="1325880" cy="146304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080760" y="3282696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-3.86%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863840" y="1371600"/>
            <a:ext cx="338328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100" b="1">
                <a:solidFill>
                  <a:srgbClr val="1A2026"/>
                </a:solidFill>
                <a:latin typeface="Microsoft YaHei"/>
              </a:rPr>
              <a:t>近1个月收益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863840" y="1737360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华夏沪深300E</a:t>
            </a:r>
          </a:p>
        </p:txBody>
      </p:sp>
      <p:sp>
        <p:nvSpPr>
          <p:cNvPr id="49" name="Rectangle 48"/>
          <p:cNvSpPr/>
          <p:nvPr/>
        </p:nvSpPr>
        <p:spPr>
          <a:xfrm>
            <a:off x="9646919" y="1810512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8321040" y="1792224"/>
            <a:ext cx="1325880" cy="146304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9692640" y="1746504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-5.29%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863840" y="2121408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富国红利精选QD</a:t>
            </a:r>
          </a:p>
        </p:txBody>
      </p:sp>
      <p:sp>
        <p:nvSpPr>
          <p:cNvPr id="53" name="Rectangle 52"/>
          <p:cNvSpPr/>
          <p:nvPr/>
        </p:nvSpPr>
        <p:spPr>
          <a:xfrm>
            <a:off x="9646919" y="2194560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8667497" y="2176272"/>
            <a:ext cx="979422" cy="146304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9692640" y="2130552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-3.91%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7863840" y="2505456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纳斯达克100指</a:t>
            </a:r>
          </a:p>
        </p:txBody>
      </p:sp>
      <p:sp>
        <p:nvSpPr>
          <p:cNvPr id="57" name="Rectangle 56"/>
          <p:cNvSpPr/>
          <p:nvPr/>
        </p:nvSpPr>
        <p:spPr>
          <a:xfrm>
            <a:off x="9646919" y="2578608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9646919" y="2560320"/>
            <a:ext cx="686028" cy="146304"/>
          </a:xfrm>
          <a:prstGeom prst="rect">
            <a:avLst/>
          </a:prstGeom>
          <a:solidFill>
            <a:srgbClr val="1989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10378668" y="2514600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2.74%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7863840" y="2889503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兴全安泰积极养老</a:t>
            </a:r>
          </a:p>
        </p:txBody>
      </p:sp>
      <p:sp>
        <p:nvSpPr>
          <p:cNvPr id="61" name="Rectangle 60"/>
          <p:cNvSpPr/>
          <p:nvPr/>
        </p:nvSpPr>
        <p:spPr>
          <a:xfrm>
            <a:off x="9646919" y="2962656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8659762" y="2944368"/>
            <a:ext cx="987157" cy="146304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9692640" y="2898648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-3.94%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7863840" y="3273551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易方达全球优质企</a:t>
            </a:r>
          </a:p>
        </p:txBody>
      </p:sp>
      <p:sp>
        <p:nvSpPr>
          <p:cNvPr id="65" name="Rectangle 64"/>
          <p:cNvSpPr/>
          <p:nvPr/>
        </p:nvSpPr>
        <p:spPr>
          <a:xfrm>
            <a:off x="9646919" y="3346703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8957917" y="3328415"/>
            <a:ext cx="689002" cy="146304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9692640" y="3282696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-2.75%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640080" y="4160520"/>
            <a:ext cx="201168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100" b="1">
                <a:solidFill>
                  <a:srgbClr val="1A2026"/>
                </a:solidFill>
                <a:latin typeface="Microsoft YaHei"/>
              </a:rPr>
              <a:t>基金净值状态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640080" y="4480560"/>
            <a:ext cx="365760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1">
                <a:solidFill>
                  <a:srgbClr val="65707D"/>
                </a:solidFill>
                <a:latin typeface="Microsoft YaHei"/>
              </a:rPr>
              <a:t>基金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4526280" y="4480560"/>
            <a:ext cx="132588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1">
                <a:solidFill>
                  <a:srgbClr val="65707D"/>
                </a:solidFill>
                <a:latin typeface="Microsoft YaHei"/>
              </a:rPr>
              <a:t>最新净值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6080760" y="4480560"/>
            <a:ext cx="141732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1">
                <a:solidFill>
                  <a:srgbClr val="65707D"/>
                </a:solidFill>
                <a:latin typeface="Microsoft YaHei"/>
              </a:rPr>
              <a:t>净值日期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7818120" y="4480560"/>
            <a:ext cx="141732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1">
                <a:solidFill>
                  <a:srgbClr val="65707D"/>
                </a:solidFill>
                <a:latin typeface="Microsoft YaHei"/>
              </a:rPr>
              <a:t>数据源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640080" y="4800600"/>
            <a:ext cx="365760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华夏沪深300ETF联接 (000051)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4526280" y="4800600"/>
            <a:ext cx="132588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1.6737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6080760" y="4800600"/>
            <a:ext cx="141732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2026-09-30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7818120" y="4800600"/>
            <a:ext cx="141732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98974"/>
                </a:solidFill>
                <a:latin typeface="Microsoft YaHei"/>
              </a:rPr>
              <a:t>Eastmoney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640080" y="5102352"/>
            <a:ext cx="365760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富国红利精选QDII (009108)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4526280" y="5102352"/>
            <a:ext cx="132588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1.8366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6080760" y="5102352"/>
            <a:ext cx="141732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2026-09-29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7818120" y="5102352"/>
            <a:ext cx="141732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98974"/>
                </a:solidFill>
                <a:latin typeface="Microsoft YaHei"/>
              </a:rPr>
              <a:t>Eastmoney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640080" y="5404104"/>
            <a:ext cx="365760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纳斯达克100指数QDII (015299)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4526280" y="5404104"/>
            <a:ext cx="132588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2.0791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6080760" y="5404104"/>
            <a:ext cx="141732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2026-09-29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7818120" y="5404104"/>
            <a:ext cx="141732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98974"/>
                </a:solidFill>
                <a:latin typeface="Microsoft YaHei"/>
              </a:rPr>
              <a:t>Eastmoney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640080" y="5705856"/>
            <a:ext cx="365760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兴全安泰积极养老五年FOF (010267)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4526280" y="5705856"/>
            <a:ext cx="132588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1.2071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6080760" y="5705856"/>
            <a:ext cx="141732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2026-09-28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7818120" y="5705856"/>
            <a:ext cx="141732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98974"/>
                </a:solidFill>
                <a:latin typeface="Microsoft YaHei"/>
              </a:rPr>
              <a:t>Eastmoney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640080" y="6007608"/>
            <a:ext cx="365760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易方达全球优质企业QDII (018229)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4526280" y="6007608"/>
            <a:ext cx="132588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1.9631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6080760" y="6007608"/>
            <a:ext cx="141732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2026-09-29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7818120" y="6007608"/>
            <a:ext cx="141732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98974"/>
                </a:solidFill>
                <a:latin typeface="Microsoft YaHei"/>
              </a:rPr>
              <a:t>Eastmoney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6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01752"/>
            <a:ext cx="2011680" cy="22860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1">
                <a:solidFill>
                  <a:srgbClr val="65707D"/>
                </a:solidFill>
                <a:latin typeface="Microsoft YaHei"/>
              </a:rPr>
              <a:t>RISK MAP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30352"/>
            <a:ext cx="8046720" cy="4114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2400" b="1">
                <a:solidFill>
                  <a:srgbClr val="1A2026"/>
                </a:solidFill>
                <a:latin typeface="Microsoft YaHei"/>
              </a:rPr>
              <a:t>风险图谱：回撤与年化波动共同决定关注优先级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042415"/>
            <a:ext cx="11201400" cy="9144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298448"/>
            <a:ext cx="4572000" cy="22860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100" b="1">
                <a:solidFill>
                  <a:srgbClr val="1A2026"/>
                </a:solidFill>
                <a:latin typeface="Microsoft YaHei"/>
              </a:rPr>
              <a:t>最大回撤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1298448"/>
            <a:ext cx="4572000" cy="22860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100" b="1">
                <a:solidFill>
                  <a:srgbClr val="1A2026"/>
                </a:solidFill>
                <a:latin typeface="Microsoft YaHei"/>
              </a:rPr>
              <a:t>年化波动率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719072"/>
            <a:ext cx="20574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华夏沪深300ETF</a:t>
            </a:r>
          </a:p>
        </p:txBody>
      </p:sp>
      <p:sp>
        <p:nvSpPr>
          <p:cNvPr id="8" name="Rectangle 7"/>
          <p:cNvSpPr/>
          <p:nvPr/>
        </p:nvSpPr>
        <p:spPr>
          <a:xfrm>
            <a:off x="2788920" y="1737360"/>
            <a:ext cx="1130804" cy="201168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285232" y="1719072"/>
            <a:ext cx="6858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-12.48%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1719072"/>
            <a:ext cx="20574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华夏沪深300ETF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549640" y="1737360"/>
            <a:ext cx="1307176" cy="201168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45952" y="1719072"/>
            <a:ext cx="6858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20.20%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2313432"/>
            <a:ext cx="20574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富国红利精选QDII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788920" y="2331720"/>
            <a:ext cx="1210781" cy="201168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285232" y="2313432"/>
            <a:ext cx="6858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-13.36%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2313432"/>
            <a:ext cx="20574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富国红利精选QDII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549640" y="2331720"/>
            <a:ext cx="797411" cy="201168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1045952" y="2313432"/>
            <a:ext cx="6858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12.32%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2907792"/>
            <a:ext cx="20574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纳斯达克100指数Q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788920" y="2926080"/>
            <a:ext cx="949620" cy="201168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285232" y="2907792"/>
            <a:ext cx="6858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-10.48%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0" y="2907792"/>
            <a:ext cx="20574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纳斯达克100指数Q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549640" y="2926080"/>
            <a:ext cx="1382499" cy="201168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1045952" y="2907792"/>
            <a:ext cx="6858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21.37%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" y="3502152"/>
            <a:ext cx="20574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兴全安泰积极养老五年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788920" y="3520440"/>
            <a:ext cx="656819" cy="201168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285232" y="3502152"/>
            <a:ext cx="6858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-7.25%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0" y="3502152"/>
            <a:ext cx="20574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兴全安泰积极养老五年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549640" y="3520440"/>
            <a:ext cx="994506" cy="201168"/>
          </a:xfrm>
          <a:prstGeom prst="rect">
            <a:avLst/>
          </a:prstGeom>
          <a:solidFill>
            <a:srgbClr val="BF84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1045952" y="3502152"/>
            <a:ext cx="6858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15.37%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0080" y="4096512"/>
            <a:ext cx="20574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易方达全球优质企业Q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788920" y="4114800"/>
            <a:ext cx="2377440" cy="201168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285232" y="4096512"/>
            <a:ext cx="6858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-26.23%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00800" y="4096512"/>
            <a:ext cx="20574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易方达全球优质企业Q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549640" y="4114800"/>
            <a:ext cx="2377440" cy="201168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1045952" y="4096512"/>
            <a:ext cx="6858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36.75%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40080" y="5166360"/>
            <a:ext cx="10607040" cy="640080"/>
          </a:xfrm>
          <a:prstGeom prst="rect">
            <a:avLst/>
          </a:prstGeom>
          <a:solidFill>
            <a:srgbClr val="FFFDF8"/>
          </a:solidFill>
          <a:ln w="6350">
            <a:solidFill>
              <a:srgbClr val="DAD5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68680" y="5340096"/>
            <a:ext cx="9966960" cy="256032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400" b="1">
                <a:solidFill>
                  <a:srgbClr val="BF4040"/>
                </a:solidFill>
                <a:latin typeface="Microsoft YaHei"/>
              </a:rPr>
              <a:t>高风险关注：华夏沪深300ETF联接、富国红利精选QDII、纳斯达克100指数QDII、易方达全球优质企业QDII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6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01752"/>
            <a:ext cx="2011680" cy="22860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1">
                <a:solidFill>
                  <a:srgbClr val="65707D"/>
                </a:solidFill>
                <a:latin typeface="Microsoft YaHei"/>
              </a:rPr>
              <a:t>DELIVERY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30352"/>
            <a:ext cx="8046720" cy="4114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2400" b="1">
                <a:solidFill>
                  <a:srgbClr val="1A2026"/>
                </a:solidFill>
                <a:latin typeface="Microsoft YaHei"/>
              </a:rPr>
              <a:t>数据源与下载说明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042415"/>
            <a:ext cx="11201400" cy="9144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417320"/>
            <a:ext cx="9875520" cy="36576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2000" b="1">
                <a:solidFill>
                  <a:srgbClr val="198974"/>
                </a:solidFill>
                <a:latin typeface="Microsoft YaHei"/>
              </a:rPr>
              <a:t>五只基金均使用 Eastmoney/Tiantian Fund 真实净值。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965960"/>
            <a:ext cx="9875520" cy="32004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400" b="0">
                <a:solidFill>
                  <a:srgbClr val="1A2026"/>
                </a:solidFill>
                <a:latin typeface="Microsoft YaHei"/>
              </a:rPr>
              <a:t>PPTX 文件路径：reports/2026-10-08.pptx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2359152"/>
            <a:ext cx="9875520" cy="32004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400" b="0">
                <a:solidFill>
                  <a:srgbClr val="1A2026"/>
                </a:solidFill>
                <a:latin typeface="Microsoft YaHei"/>
              </a:rPr>
              <a:t>Markdown 文件路径：reports/2026-10-08.md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3063240"/>
            <a:ext cx="2103120" cy="22860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100" b="1">
                <a:solidFill>
                  <a:srgbClr val="1A2026"/>
                </a:solidFill>
                <a:latin typeface="Microsoft YaHei"/>
              </a:rPr>
              <a:t>数据新鲜度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3474720"/>
            <a:ext cx="274320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华夏沪深300ETF联接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703320" y="3474720"/>
            <a:ext cx="137160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65707D"/>
                </a:solidFill>
                <a:latin typeface="Microsoft YaHei"/>
              </a:rPr>
              <a:t>2026-09-30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303520" y="3474720"/>
            <a:ext cx="146304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98974"/>
                </a:solidFill>
                <a:latin typeface="Microsoft YaHei"/>
              </a:rPr>
              <a:t>Eastmoney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903720" y="3474720"/>
            <a:ext cx="201168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1">
                <a:solidFill>
                  <a:srgbClr val="BF4040"/>
                </a:solidFill>
                <a:latin typeface="Microsoft YaHei"/>
              </a:rPr>
              <a:t>高风险关注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3858768"/>
            <a:ext cx="274320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富国红利精选QDII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03320" y="3858768"/>
            <a:ext cx="137160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65707D"/>
                </a:solidFill>
                <a:latin typeface="Microsoft YaHei"/>
              </a:rPr>
              <a:t>2026-09-29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303520" y="3858768"/>
            <a:ext cx="146304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98974"/>
                </a:solidFill>
                <a:latin typeface="Microsoft YaHei"/>
              </a:rPr>
              <a:t>Eastmoney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03720" y="3858768"/>
            <a:ext cx="201168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1">
                <a:solidFill>
                  <a:srgbClr val="BF4040"/>
                </a:solidFill>
                <a:latin typeface="Microsoft YaHei"/>
              </a:rPr>
              <a:t>高风险关注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" y="4242816"/>
            <a:ext cx="274320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纳斯达克100指数QDII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703320" y="4242816"/>
            <a:ext cx="137160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65707D"/>
                </a:solidFill>
                <a:latin typeface="Microsoft YaHei"/>
              </a:rPr>
              <a:t>2026-09-29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303520" y="4242816"/>
            <a:ext cx="146304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98974"/>
                </a:solidFill>
                <a:latin typeface="Microsoft YaHei"/>
              </a:rPr>
              <a:t>Eastmoney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903720" y="4242816"/>
            <a:ext cx="201168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1">
                <a:solidFill>
                  <a:srgbClr val="BF4040"/>
                </a:solidFill>
                <a:latin typeface="Microsoft YaHei"/>
              </a:rPr>
              <a:t>高风险关注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5800" y="4626864"/>
            <a:ext cx="274320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兴全安泰积极养老五年FOF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703320" y="4626864"/>
            <a:ext cx="137160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65707D"/>
                </a:solidFill>
                <a:latin typeface="Microsoft YaHei"/>
              </a:rPr>
              <a:t>2026-09-28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03520" y="4626864"/>
            <a:ext cx="146304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98974"/>
                </a:solidFill>
                <a:latin typeface="Microsoft YaHei"/>
              </a:rPr>
              <a:t>Eastmoney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03720" y="4626864"/>
            <a:ext cx="201168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1">
                <a:solidFill>
                  <a:srgbClr val="BF842D"/>
                </a:solidFill>
                <a:latin typeface="Microsoft YaHei"/>
              </a:rPr>
              <a:t>中等波动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5800" y="5010912"/>
            <a:ext cx="274320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易方达全球优质企业QDII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703320" y="5010912"/>
            <a:ext cx="137160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65707D"/>
                </a:solidFill>
                <a:latin typeface="Microsoft YaHei"/>
              </a:rPr>
              <a:t>2026-09-29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303520" y="5010912"/>
            <a:ext cx="146304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98974"/>
                </a:solidFill>
                <a:latin typeface="Microsoft YaHei"/>
              </a:rPr>
              <a:t>Eastmoney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903720" y="5010912"/>
            <a:ext cx="201168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1">
                <a:solidFill>
                  <a:srgbClr val="BF4040"/>
                </a:solidFill>
                <a:latin typeface="Microsoft YaHei"/>
              </a:rPr>
              <a:t>高风险关注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5800" y="5742432"/>
            <a:ext cx="9875520" cy="22860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65707D"/>
                </a:solidFill>
                <a:latin typeface="Microsoft YaHei"/>
              </a:rPr>
              <a:t>提示：本报告仅用于投资记录和风险监测，不构成收益保证或买卖建议。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