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6E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301752"/>
            <a:ext cx="2011680" cy="228600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1">
                <a:solidFill>
                  <a:srgbClr val="65707D"/>
                </a:solidFill>
                <a:latin typeface="Microsoft YaHei"/>
              </a:rPr>
              <a:t>FUND TRACKER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530352"/>
            <a:ext cx="8046720" cy="411480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2400" b="1">
                <a:solidFill>
                  <a:srgbClr val="1A2026"/>
                </a:solidFill>
                <a:latin typeface="Microsoft YaHei"/>
              </a:rPr>
              <a:t>基金组合日报 2026-08-19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" y="1042415"/>
            <a:ext cx="11201400" cy="9144"/>
          </a:xfrm>
          <a:prstGeom prst="rect">
            <a:avLst/>
          </a:prstGeom>
          <a:solidFill>
            <a:srgbClr val="DAD5C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21792" y="1417320"/>
            <a:ext cx="5303520" cy="502920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2800" b="1">
                <a:solidFill>
                  <a:srgbClr val="1A2026"/>
                </a:solidFill>
                <a:latin typeface="Microsoft YaHei"/>
              </a:rPr>
              <a:t>真实净值驱动的每日组合快照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1965960"/>
            <a:ext cx="6035040" cy="384048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1400" b="0">
                <a:solidFill>
                  <a:srgbClr val="65707D"/>
                </a:solidFill>
                <a:latin typeface="Microsoft YaHei"/>
              </a:rPr>
              <a:t>含收益表现、回撤波动、数据源状态与高风险基金提示。</a:t>
            </a:r>
          </a:p>
        </p:txBody>
      </p:sp>
      <p:sp>
        <p:nvSpPr>
          <p:cNvPr id="7" name="Rectangle 6"/>
          <p:cNvSpPr/>
          <p:nvPr/>
        </p:nvSpPr>
        <p:spPr>
          <a:xfrm>
            <a:off x="640080" y="2788920"/>
            <a:ext cx="2331720" cy="1325880"/>
          </a:xfrm>
          <a:prstGeom prst="rect">
            <a:avLst/>
          </a:prstGeom>
          <a:solidFill>
            <a:srgbClr val="FFFDF8"/>
          </a:solidFill>
          <a:ln w="6350">
            <a:solidFill>
              <a:srgbClr val="DAD5C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41247" y="2953512"/>
            <a:ext cx="1929384" cy="201168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900" b="1">
                <a:solidFill>
                  <a:srgbClr val="65707D"/>
                </a:solidFill>
                <a:latin typeface="Microsoft YaHei"/>
              </a:rPr>
              <a:t>平均日涨跌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41247" y="3218687"/>
            <a:ext cx="1929384" cy="384048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2400" b="1">
                <a:solidFill>
                  <a:srgbClr val="BF4040"/>
                </a:solidFill>
                <a:latin typeface="Microsoft YaHei"/>
              </a:rPr>
              <a:t>-0.74%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41247" y="3685031"/>
            <a:ext cx="1929384" cy="256032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900" b="0">
                <a:solidFill>
                  <a:srgbClr val="65707D"/>
                </a:solidFill>
                <a:latin typeface="Microsoft YaHei"/>
              </a:rPr>
              <a:t>五只基金简单平均</a:t>
            </a:r>
          </a:p>
        </p:txBody>
      </p:sp>
      <p:sp>
        <p:nvSpPr>
          <p:cNvPr id="11" name="Rectangle 10"/>
          <p:cNvSpPr/>
          <p:nvPr/>
        </p:nvSpPr>
        <p:spPr>
          <a:xfrm>
            <a:off x="3246120" y="2788920"/>
            <a:ext cx="2331720" cy="1325880"/>
          </a:xfrm>
          <a:prstGeom prst="rect">
            <a:avLst/>
          </a:prstGeom>
          <a:solidFill>
            <a:srgbClr val="FFFDF8"/>
          </a:solidFill>
          <a:ln w="6350">
            <a:solidFill>
              <a:srgbClr val="DAD5C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447288" y="2953512"/>
            <a:ext cx="1929384" cy="201168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900" b="1">
                <a:solidFill>
                  <a:srgbClr val="65707D"/>
                </a:solidFill>
                <a:latin typeface="Microsoft YaHei"/>
              </a:rPr>
              <a:t>平均近1月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447288" y="3218687"/>
            <a:ext cx="1929384" cy="384048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2400" b="1">
                <a:solidFill>
                  <a:srgbClr val="198974"/>
                </a:solidFill>
                <a:latin typeface="Microsoft YaHei"/>
              </a:rPr>
              <a:t>2.40%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447288" y="3685031"/>
            <a:ext cx="1929384" cy="256032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900" b="0">
                <a:solidFill>
                  <a:srgbClr val="65707D"/>
                </a:solidFill>
                <a:latin typeface="Microsoft YaHei"/>
              </a:rPr>
              <a:t>五只基金简单平均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852160" y="2788920"/>
            <a:ext cx="2331720" cy="1325880"/>
          </a:xfrm>
          <a:prstGeom prst="rect">
            <a:avLst/>
          </a:prstGeom>
          <a:solidFill>
            <a:srgbClr val="FFFDF8"/>
          </a:solidFill>
          <a:ln w="6350">
            <a:solidFill>
              <a:srgbClr val="DAD5C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053328" y="2953512"/>
            <a:ext cx="1929384" cy="201168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900" b="1">
                <a:solidFill>
                  <a:srgbClr val="65707D"/>
                </a:solidFill>
                <a:latin typeface="Microsoft YaHei"/>
              </a:rPr>
              <a:t>高风险关注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053328" y="3218687"/>
            <a:ext cx="1929384" cy="384048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2400" b="1">
                <a:solidFill>
                  <a:srgbClr val="BF4040"/>
                </a:solidFill>
                <a:latin typeface="Microsoft YaHei"/>
              </a:rPr>
              <a:t>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053328" y="3685031"/>
            <a:ext cx="1929384" cy="256032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900" b="0">
                <a:solidFill>
                  <a:srgbClr val="65707D"/>
                </a:solidFill>
                <a:latin typeface="Microsoft YaHei"/>
              </a:rPr>
              <a:t>回撤或波动触发</a:t>
            </a:r>
          </a:p>
        </p:txBody>
      </p:sp>
      <p:sp>
        <p:nvSpPr>
          <p:cNvPr id="19" name="Rectangle 18"/>
          <p:cNvSpPr/>
          <p:nvPr/>
        </p:nvSpPr>
        <p:spPr>
          <a:xfrm>
            <a:off x="8458200" y="2788920"/>
            <a:ext cx="2331720" cy="1325880"/>
          </a:xfrm>
          <a:prstGeom prst="rect">
            <a:avLst/>
          </a:prstGeom>
          <a:solidFill>
            <a:srgbClr val="FFFDF8"/>
          </a:solidFill>
          <a:ln w="6350">
            <a:solidFill>
              <a:srgbClr val="DAD5C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659368" y="2953512"/>
            <a:ext cx="1929384" cy="201168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900" b="1">
                <a:solidFill>
                  <a:srgbClr val="65707D"/>
                </a:solidFill>
                <a:latin typeface="Microsoft YaHei"/>
              </a:rPr>
              <a:t>Fallback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659368" y="3218687"/>
            <a:ext cx="1929384" cy="384048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2400" b="1">
                <a:solidFill>
                  <a:srgbClr val="198974"/>
                </a:solidFill>
                <a:latin typeface="Microsoft YaHei"/>
              </a:rPr>
              <a:t>0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659368" y="3685031"/>
            <a:ext cx="1929384" cy="256032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900" b="0">
                <a:solidFill>
                  <a:srgbClr val="65707D"/>
                </a:solidFill>
                <a:latin typeface="Microsoft YaHei"/>
              </a:rPr>
              <a:t>真实数据失败数量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40080" y="4709160"/>
            <a:ext cx="2560320" cy="256032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1100" b="1">
                <a:solidFill>
                  <a:srgbClr val="1A2026"/>
                </a:solidFill>
                <a:latin typeface="Microsoft YaHei"/>
              </a:rPr>
              <a:t>今日风险判断</a:t>
            </a:r>
          </a:p>
        </p:txBody>
      </p:sp>
      <p:sp>
        <p:nvSpPr>
          <p:cNvPr id="24" name="Rectangle 23"/>
          <p:cNvSpPr/>
          <p:nvPr/>
        </p:nvSpPr>
        <p:spPr>
          <a:xfrm>
            <a:off x="640080" y="5047488"/>
            <a:ext cx="10149840" cy="731520"/>
          </a:xfrm>
          <a:prstGeom prst="rect">
            <a:avLst/>
          </a:prstGeom>
          <a:solidFill>
            <a:srgbClr val="FFFDF8"/>
          </a:solidFill>
          <a:ln w="6350">
            <a:solidFill>
              <a:srgbClr val="DAD5C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868680" y="5248656"/>
            <a:ext cx="9555480" cy="310896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1600" b="1">
                <a:solidFill>
                  <a:srgbClr val="BF4040"/>
                </a:solidFill>
                <a:latin typeface="Microsoft YaHei"/>
              </a:rPr>
              <a:t>存在高风险关注基金，建议复核 QDII 汇率、海外科技股估值与短期回撤。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6E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301752"/>
            <a:ext cx="2011680" cy="228600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1">
                <a:solidFill>
                  <a:srgbClr val="65707D"/>
                </a:solidFill>
                <a:latin typeface="Microsoft YaHei"/>
              </a:rPr>
              <a:t>RETURNS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530352"/>
            <a:ext cx="8046720" cy="411480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2400" b="1">
                <a:solidFill>
                  <a:srgbClr val="1A2026"/>
                </a:solidFill>
                <a:latin typeface="Microsoft YaHei"/>
              </a:rPr>
              <a:t>收益表现：近1月分化明显，QDII 贡献主要波动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" y="1042415"/>
            <a:ext cx="11201400" cy="9144"/>
          </a:xfrm>
          <a:prstGeom prst="rect">
            <a:avLst/>
          </a:prstGeom>
          <a:solidFill>
            <a:srgbClr val="DAD5C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371600"/>
            <a:ext cx="3383280" cy="219456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1100" b="1">
                <a:solidFill>
                  <a:srgbClr val="1A2026"/>
                </a:solidFill>
                <a:latin typeface="Microsoft YaHei"/>
              </a:rPr>
              <a:t>当日涨跌幅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1737360"/>
            <a:ext cx="1078992" cy="201168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0">
                <a:solidFill>
                  <a:srgbClr val="65707D"/>
                </a:solidFill>
                <a:latin typeface="Microsoft YaHei"/>
              </a:rPr>
              <a:t>华夏沪深300E</a:t>
            </a:r>
          </a:p>
        </p:txBody>
      </p:sp>
      <p:sp>
        <p:nvSpPr>
          <p:cNvPr id="7" name="Rectangle 6"/>
          <p:cNvSpPr/>
          <p:nvPr/>
        </p:nvSpPr>
        <p:spPr>
          <a:xfrm>
            <a:off x="2423160" y="1810512"/>
            <a:ext cx="9144" cy="118872"/>
          </a:xfrm>
          <a:prstGeom prst="rect">
            <a:avLst/>
          </a:prstGeom>
          <a:solidFill>
            <a:srgbClr val="DAD5C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2273677" y="1792224"/>
            <a:ext cx="149482" cy="146304"/>
          </a:xfrm>
          <a:prstGeom prst="rect">
            <a:avLst/>
          </a:prstGeom>
          <a:solidFill>
            <a:srgbClr val="BF40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2468879" y="1746504"/>
            <a:ext cx="502920" cy="201168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0">
                <a:solidFill>
                  <a:srgbClr val="1A2026"/>
                </a:solidFill>
                <a:latin typeface="Microsoft YaHei"/>
              </a:rPr>
              <a:t>-0.32%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" y="2121408"/>
            <a:ext cx="1078992" cy="201168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0">
                <a:solidFill>
                  <a:srgbClr val="65707D"/>
                </a:solidFill>
                <a:latin typeface="Microsoft YaHei"/>
              </a:rPr>
              <a:t>富国红利精选QD</a:t>
            </a:r>
          </a:p>
        </p:txBody>
      </p:sp>
      <p:sp>
        <p:nvSpPr>
          <p:cNvPr id="11" name="Rectangle 10"/>
          <p:cNvSpPr/>
          <p:nvPr/>
        </p:nvSpPr>
        <p:spPr>
          <a:xfrm>
            <a:off x="2423160" y="2194560"/>
            <a:ext cx="9144" cy="118872"/>
          </a:xfrm>
          <a:prstGeom prst="rect">
            <a:avLst/>
          </a:prstGeom>
          <a:solidFill>
            <a:srgbClr val="DAD5C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2270623" y="2176272"/>
            <a:ext cx="152536" cy="146304"/>
          </a:xfrm>
          <a:prstGeom prst="rect">
            <a:avLst/>
          </a:prstGeom>
          <a:solidFill>
            <a:srgbClr val="BF40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2468879" y="2130552"/>
            <a:ext cx="502920" cy="201168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0">
                <a:solidFill>
                  <a:srgbClr val="1A2026"/>
                </a:solidFill>
                <a:latin typeface="Microsoft YaHei"/>
              </a:rPr>
              <a:t>-0.33%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0080" y="2505456"/>
            <a:ext cx="1078992" cy="201168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0">
                <a:solidFill>
                  <a:srgbClr val="65707D"/>
                </a:solidFill>
                <a:latin typeface="Microsoft YaHei"/>
              </a:rPr>
              <a:t>纳斯达克100指</a:t>
            </a:r>
          </a:p>
        </p:txBody>
      </p:sp>
      <p:sp>
        <p:nvSpPr>
          <p:cNvPr id="15" name="Rectangle 14"/>
          <p:cNvSpPr/>
          <p:nvPr/>
        </p:nvSpPr>
        <p:spPr>
          <a:xfrm>
            <a:off x="2423160" y="2578608"/>
            <a:ext cx="9144" cy="118872"/>
          </a:xfrm>
          <a:prstGeom prst="rect">
            <a:avLst/>
          </a:prstGeom>
          <a:solidFill>
            <a:srgbClr val="DAD5C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1704473" y="2560320"/>
            <a:ext cx="718686" cy="146304"/>
          </a:xfrm>
          <a:prstGeom prst="rect">
            <a:avLst/>
          </a:prstGeom>
          <a:solidFill>
            <a:srgbClr val="BF40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2468879" y="2514600"/>
            <a:ext cx="502920" cy="201168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0">
                <a:solidFill>
                  <a:srgbClr val="1A2026"/>
                </a:solidFill>
                <a:latin typeface="Microsoft YaHei"/>
              </a:rPr>
              <a:t>-1.54%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40080" y="2889503"/>
            <a:ext cx="1078992" cy="201168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0">
                <a:solidFill>
                  <a:srgbClr val="65707D"/>
                </a:solidFill>
                <a:latin typeface="Microsoft YaHei"/>
              </a:rPr>
              <a:t>兴全安泰积极养老</a:t>
            </a:r>
          </a:p>
        </p:txBody>
      </p:sp>
      <p:sp>
        <p:nvSpPr>
          <p:cNvPr id="19" name="Rectangle 18"/>
          <p:cNvSpPr/>
          <p:nvPr/>
        </p:nvSpPr>
        <p:spPr>
          <a:xfrm>
            <a:off x="2423160" y="2962656"/>
            <a:ext cx="9144" cy="118872"/>
          </a:xfrm>
          <a:prstGeom prst="rect">
            <a:avLst/>
          </a:prstGeom>
          <a:solidFill>
            <a:srgbClr val="DAD5C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2423160" y="2944368"/>
            <a:ext cx="617594" cy="146304"/>
          </a:xfrm>
          <a:prstGeom prst="rect">
            <a:avLst/>
          </a:prstGeom>
          <a:solidFill>
            <a:srgbClr val="19897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3086474" y="2898648"/>
            <a:ext cx="502920" cy="201168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0">
                <a:solidFill>
                  <a:srgbClr val="1A2026"/>
                </a:solidFill>
                <a:latin typeface="Microsoft YaHei"/>
              </a:rPr>
              <a:t>1.33%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40080" y="3273551"/>
            <a:ext cx="1078992" cy="201168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0">
                <a:solidFill>
                  <a:srgbClr val="65707D"/>
                </a:solidFill>
                <a:latin typeface="Microsoft YaHei"/>
              </a:rPr>
              <a:t>易方达全球优质企</a:t>
            </a:r>
          </a:p>
        </p:txBody>
      </p:sp>
      <p:sp>
        <p:nvSpPr>
          <p:cNvPr id="23" name="Rectangle 22"/>
          <p:cNvSpPr/>
          <p:nvPr/>
        </p:nvSpPr>
        <p:spPr>
          <a:xfrm>
            <a:off x="2423160" y="3346703"/>
            <a:ext cx="9144" cy="118872"/>
          </a:xfrm>
          <a:prstGeom prst="rect">
            <a:avLst/>
          </a:prstGeom>
          <a:solidFill>
            <a:srgbClr val="DAD5C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1097280" y="3328415"/>
            <a:ext cx="1325880" cy="146304"/>
          </a:xfrm>
          <a:prstGeom prst="rect">
            <a:avLst/>
          </a:prstGeom>
          <a:solidFill>
            <a:srgbClr val="BF40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2468879" y="3282696"/>
            <a:ext cx="502920" cy="201168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0">
                <a:solidFill>
                  <a:srgbClr val="1A2026"/>
                </a:solidFill>
                <a:latin typeface="Microsoft YaHei"/>
              </a:rPr>
              <a:t>-2.85%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251960" y="1371600"/>
            <a:ext cx="3383280" cy="219456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1100" b="1">
                <a:solidFill>
                  <a:srgbClr val="1A2026"/>
                </a:solidFill>
                <a:latin typeface="Microsoft YaHei"/>
              </a:rPr>
              <a:t>近1周收益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251960" y="1737360"/>
            <a:ext cx="1078992" cy="201168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0">
                <a:solidFill>
                  <a:srgbClr val="65707D"/>
                </a:solidFill>
                <a:latin typeface="Microsoft YaHei"/>
              </a:rPr>
              <a:t>华夏沪深300E</a:t>
            </a:r>
          </a:p>
        </p:txBody>
      </p:sp>
      <p:sp>
        <p:nvSpPr>
          <p:cNvPr id="28" name="Rectangle 27"/>
          <p:cNvSpPr/>
          <p:nvPr/>
        </p:nvSpPr>
        <p:spPr>
          <a:xfrm>
            <a:off x="6035040" y="1810512"/>
            <a:ext cx="9144" cy="118872"/>
          </a:xfrm>
          <a:prstGeom prst="rect">
            <a:avLst/>
          </a:prstGeom>
          <a:solidFill>
            <a:srgbClr val="DAD5C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6035040" y="1792224"/>
            <a:ext cx="960025" cy="146304"/>
          </a:xfrm>
          <a:prstGeom prst="rect">
            <a:avLst/>
          </a:prstGeom>
          <a:solidFill>
            <a:srgbClr val="19897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7040785" y="1746504"/>
            <a:ext cx="502920" cy="201168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0">
                <a:solidFill>
                  <a:srgbClr val="1A2026"/>
                </a:solidFill>
                <a:latin typeface="Microsoft YaHei"/>
              </a:rPr>
              <a:t>1.25%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4251960" y="2121408"/>
            <a:ext cx="1078992" cy="201168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0">
                <a:solidFill>
                  <a:srgbClr val="65707D"/>
                </a:solidFill>
                <a:latin typeface="Microsoft YaHei"/>
              </a:rPr>
              <a:t>富国红利精选QD</a:t>
            </a:r>
          </a:p>
        </p:txBody>
      </p:sp>
      <p:sp>
        <p:nvSpPr>
          <p:cNvPr id="32" name="Rectangle 31"/>
          <p:cNvSpPr/>
          <p:nvPr/>
        </p:nvSpPr>
        <p:spPr>
          <a:xfrm>
            <a:off x="6035040" y="2194560"/>
            <a:ext cx="9144" cy="118872"/>
          </a:xfrm>
          <a:prstGeom prst="rect">
            <a:avLst/>
          </a:prstGeom>
          <a:solidFill>
            <a:srgbClr val="DAD5C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5780109" y="2176272"/>
            <a:ext cx="254930" cy="146304"/>
          </a:xfrm>
          <a:prstGeom prst="rect">
            <a:avLst/>
          </a:prstGeom>
          <a:solidFill>
            <a:srgbClr val="BF40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6080760" y="2130552"/>
            <a:ext cx="502920" cy="201168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0">
                <a:solidFill>
                  <a:srgbClr val="1A2026"/>
                </a:solidFill>
                <a:latin typeface="Microsoft YaHei"/>
              </a:rPr>
              <a:t>-0.33%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4251960" y="2505456"/>
            <a:ext cx="1078992" cy="201168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0">
                <a:solidFill>
                  <a:srgbClr val="65707D"/>
                </a:solidFill>
                <a:latin typeface="Microsoft YaHei"/>
              </a:rPr>
              <a:t>纳斯达克100指</a:t>
            </a:r>
          </a:p>
        </p:txBody>
      </p:sp>
      <p:sp>
        <p:nvSpPr>
          <p:cNvPr id="36" name="Rectangle 35"/>
          <p:cNvSpPr/>
          <p:nvPr/>
        </p:nvSpPr>
        <p:spPr>
          <a:xfrm>
            <a:off x="6035040" y="2578608"/>
            <a:ext cx="9144" cy="118872"/>
          </a:xfrm>
          <a:prstGeom prst="rect">
            <a:avLst/>
          </a:prstGeom>
          <a:solidFill>
            <a:srgbClr val="DAD5C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ectangle 36"/>
          <p:cNvSpPr/>
          <p:nvPr/>
        </p:nvSpPr>
        <p:spPr>
          <a:xfrm>
            <a:off x="5877327" y="2560320"/>
            <a:ext cx="157712" cy="146304"/>
          </a:xfrm>
          <a:prstGeom prst="rect">
            <a:avLst/>
          </a:prstGeom>
          <a:solidFill>
            <a:srgbClr val="BF40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6080760" y="2514600"/>
            <a:ext cx="502920" cy="201168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0">
                <a:solidFill>
                  <a:srgbClr val="1A2026"/>
                </a:solidFill>
                <a:latin typeface="Microsoft YaHei"/>
              </a:rPr>
              <a:t>-0.21%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4251960" y="2889503"/>
            <a:ext cx="1078992" cy="201168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0">
                <a:solidFill>
                  <a:srgbClr val="65707D"/>
                </a:solidFill>
                <a:latin typeface="Microsoft YaHei"/>
              </a:rPr>
              <a:t>兴全安泰积极养老</a:t>
            </a:r>
          </a:p>
        </p:txBody>
      </p:sp>
      <p:sp>
        <p:nvSpPr>
          <p:cNvPr id="40" name="Rectangle 39"/>
          <p:cNvSpPr/>
          <p:nvPr/>
        </p:nvSpPr>
        <p:spPr>
          <a:xfrm>
            <a:off x="6035040" y="2962656"/>
            <a:ext cx="9144" cy="118872"/>
          </a:xfrm>
          <a:prstGeom prst="rect">
            <a:avLst/>
          </a:prstGeom>
          <a:solidFill>
            <a:srgbClr val="DAD5C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Rectangle 40"/>
          <p:cNvSpPr/>
          <p:nvPr/>
        </p:nvSpPr>
        <p:spPr>
          <a:xfrm>
            <a:off x="6035040" y="2944368"/>
            <a:ext cx="672034" cy="146304"/>
          </a:xfrm>
          <a:prstGeom prst="rect">
            <a:avLst/>
          </a:prstGeom>
          <a:solidFill>
            <a:srgbClr val="19897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6752794" y="2898648"/>
            <a:ext cx="502920" cy="201168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0">
                <a:solidFill>
                  <a:srgbClr val="1A2026"/>
                </a:solidFill>
                <a:latin typeface="Microsoft YaHei"/>
              </a:rPr>
              <a:t>0.88%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4251960" y="3273551"/>
            <a:ext cx="1078992" cy="201168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0">
                <a:solidFill>
                  <a:srgbClr val="65707D"/>
                </a:solidFill>
                <a:latin typeface="Microsoft YaHei"/>
              </a:rPr>
              <a:t>易方达全球优质企</a:t>
            </a:r>
          </a:p>
        </p:txBody>
      </p:sp>
      <p:sp>
        <p:nvSpPr>
          <p:cNvPr id="44" name="Rectangle 43"/>
          <p:cNvSpPr/>
          <p:nvPr/>
        </p:nvSpPr>
        <p:spPr>
          <a:xfrm>
            <a:off x="6035040" y="3346703"/>
            <a:ext cx="9144" cy="118872"/>
          </a:xfrm>
          <a:prstGeom prst="rect">
            <a:avLst/>
          </a:prstGeom>
          <a:solidFill>
            <a:srgbClr val="DAD5C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Rectangle 44"/>
          <p:cNvSpPr/>
          <p:nvPr/>
        </p:nvSpPr>
        <p:spPr>
          <a:xfrm>
            <a:off x="6035040" y="3328415"/>
            <a:ext cx="1325880" cy="146304"/>
          </a:xfrm>
          <a:prstGeom prst="rect">
            <a:avLst/>
          </a:prstGeom>
          <a:solidFill>
            <a:srgbClr val="19897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7406640" y="3282696"/>
            <a:ext cx="502920" cy="201168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0">
                <a:solidFill>
                  <a:srgbClr val="1A2026"/>
                </a:solidFill>
                <a:latin typeface="Microsoft YaHei"/>
              </a:rPr>
              <a:t>1.73%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7863840" y="1371600"/>
            <a:ext cx="3383280" cy="219456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1100" b="1">
                <a:solidFill>
                  <a:srgbClr val="1A2026"/>
                </a:solidFill>
                <a:latin typeface="Microsoft YaHei"/>
              </a:rPr>
              <a:t>近1个月收益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7863840" y="1737360"/>
            <a:ext cx="1078992" cy="201168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0">
                <a:solidFill>
                  <a:srgbClr val="65707D"/>
                </a:solidFill>
                <a:latin typeface="Microsoft YaHei"/>
              </a:rPr>
              <a:t>华夏沪深300E</a:t>
            </a:r>
          </a:p>
        </p:txBody>
      </p:sp>
      <p:sp>
        <p:nvSpPr>
          <p:cNvPr id="49" name="Rectangle 48"/>
          <p:cNvSpPr/>
          <p:nvPr/>
        </p:nvSpPr>
        <p:spPr>
          <a:xfrm>
            <a:off x="9646919" y="1810512"/>
            <a:ext cx="9144" cy="118872"/>
          </a:xfrm>
          <a:prstGeom prst="rect">
            <a:avLst/>
          </a:prstGeom>
          <a:solidFill>
            <a:srgbClr val="DAD5C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Rectangle 49"/>
          <p:cNvSpPr/>
          <p:nvPr/>
        </p:nvSpPr>
        <p:spPr>
          <a:xfrm>
            <a:off x="9646919" y="1792224"/>
            <a:ext cx="781224" cy="146304"/>
          </a:xfrm>
          <a:prstGeom prst="rect">
            <a:avLst/>
          </a:prstGeom>
          <a:solidFill>
            <a:srgbClr val="19897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10473864" y="1746504"/>
            <a:ext cx="502920" cy="201168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0">
                <a:solidFill>
                  <a:srgbClr val="1A2026"/>
                </a:solidFill>
                <a:latin typeface="Microsoft YaHei"/>
              </a:rPr>
              <a:t>2.90%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7863840" y="2121408"/>
            <a:ext cx="1078992" cy="201168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0">
                <a:solidFill>
                  <a:srgbClr val="65707D"/>
                </a:solidFill>
                <a:latin typeface="Microsoft YaHei"/>
              </a:rPr>
              <a:t>富国红利精选QD</a:t>
            </a:r>
          </a:p>
        </p:txBody>
      </p:sp>
      <p:sp>
        <p:nvSpPr>
          <p:cNvPr id="53" name="Rectangle 52"/>
          <p:cNvSpPr/>
          <p:nvPr/>
        </p:nvSpPr>
        <p:spPr>
          <a:xfrm>
            <a:off x="9646919" y="2194560"/>
            <a:ext cx="9144" cy="118872"/>
          </a:xfrm>
          <a:prstGeom prst="rect">
            <a:avLst/>
          </a:prstGeom>
          <a:solidFill>
            <a:srgbClr val="DAD5C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Rectangle 53"/>
          <p:cNvSpPr/>
          <p:nvPr/>
        </p:nvSpPr>
        <p:spPr>
          <a:xfrm>
            <a:off x="9646919" y="2176272"/>
            <a:ext cx="514276" cy="146304"/>
          </a:xfrm>
          <a:prstGeom prst="rect">
            <a:avLst/>
          </a:prstGeom>
          <a:solidFill>
            <a:srgbClr val="19897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TextBox 54"/>
          <p:cNvSpPr txBox="1"/>
          <p:nvPr/>
        </p:nvSpPr>
        <p:spPr>
          <a:xfrm>
            <a:off x="10206916" y="2130552"/>
            <a:ext cx="502920" cy="201168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0">
                <a:solidFill>
                  <a:srgbClr val="1A2026"/>
                </a:solidFill>
                <a:latin typeface="Microsoft YaHei"/>
              </a:rPr>
              <a:t>1.91%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7863840" y="2505456"/>
            <a:ext cx="1078992" cy="201168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0">
                <a:solidFill>
                  <a:srgbClr val="65707D"/>
                </a:solidFill>
                <a:latin typeface="Microsoft YaHei"/>
              </a:rPr>
              <a:t>纳斯达克100指</a:t>
            </a:r>
          </a:p>
        </p:txBody>
      </p:sp>
      <p:sp>
        <p:nvSpPr>
          <p:cNvPr id="57" name="Rectangle 56"/>
          <p:cNvSpPr/>
          <p:nvPr/>
        </p:nvSpPr>
        <p:spPr>
          <a:xfrm>
            <a:off x="9646919" y="2578608"/>
            <a:ext cx="9144" cy="118872"/>
          </a:xfrm>
          <a:prstGeom prst="rect">
            <a:avLst/>
          </a:prstGeom>
          <a:solidFill>
            <a:srgbClr val="DAD5C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Rectangle 57"/>
          <p:cNvSpPr/>
          <p:nvPr/>
        </p:nvSpPr>
        <p:spPr>
          <a:xfrm>
            <a:off x="9646919" y="2560320"/>
            <a:ext cx="679354" cy="146304"/>
          </a:xfrm>
          <a:prstGeom prst="rect">
            <a:avLst/>
          </a:prstGeom>
          <a:solidFill>
            <a:srgbClr val="19897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TextBox 58"/>
          <p:cNvSpPr txBox="1"/>
          <p:nvPr/>
        </p:nvSpPr>
        <p:spPr>
          <a:xfrm>
            <a:off x="10371994" y="2514600"/>
            <a:ext cx="502920" cy="201168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0">
                <a:solidFill>
                  <a:srgbClr val="1A2026"/>
                </a:solidFill>
                <a:latin typeface="Microsoft YaHei"/>
              </a:rPr>
              <a:t>2.52%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7863840" y="2889503"/>
            <a:ext cx="1078992" cy="201168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0">
                <a:solidFill>
                  <a:srgbClr val="65707D"/>
                </a:solidFill>
                <a:latin typeface="Microsoft YaHei"/>
              </a:rPr>
              <a:t>兴全安泰积极养老</a:t>
            </a:r>
          </a:p>
        </p:txBody>
      </p:sp>
      <p:sp>
        <p:nvSpPr>
          <p:cNvPr id="61" name="Rectangle 60"/>
          <p:cNvSpPr/>
          <p:nvPr/>
        </p:nvSpPr>
        <p:spPr>
          <a:xfrm>
            <a:off x="9646919" y="2962656"/>
            <a:ext cx="9144" cy="118872"/>
          </a:xfrm>
          <a:prstGeom prst="rect">
            <a:avLst/>
          </a:prstGeom>
          <a:solidFill>
            <a:srgbClr val="DAD5C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Rectangle 61"/>
          <p:cNvSpPr/>
          <p:nvPr/>
        </p:nvSpPr>
        <p:spPr>
          <a:xfrm>
            <a:off x="9646919" y="2944368"/>
            <a:ext cx="1325880" cy="146304"/>
          </a:xfrm>
          <a:prstGeom prst="rect">
            <a:avLst/>
          </a:prstGeom>
          <a:solidFill>
            <a:srgbClr val="19897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TextBox 62"/>
          <p:cNvSpPr txBox="1"/>
          <p:nvPr/>
        </p:nvSpPr>
        <p:spPr>
          <a:xfrm>
            <a:off x="11018519" y="2898648"/>
            <a:ext cx="502920" cy="201168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0">
                <a:solidFill>
                  <a:srgbClr val="1A2026"/>
                </a:solidFill>
                <a:latin typeface="Microsoft YaHei"/>
              </a:rPr>
              <a:t>4.93%</a:t>
            </a:r>
          </a:p>
        </p:txBody>
      </p:sp>
      <p:sp>
        <p:nvSpPr>
          <p:cNvPr id="64" name="TextBox 63"/>
          <p:cNvSpPr txBox="1"/>
          <p:nvPr/>
        </p:nvSpPr>
        <p:spPr>
          <a:xfrm>
            <a:off x="7863840" y="3273551"/>
            <a:ext cx="1078992" cy="201168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0">
                <a:solidFill>
                  <a:srgbClr val="65707D"/>
                </a:solidFill>
                <a:latin typeface="Microsoft YaHei"/>
              </a:rPr>
              <a:t>易方达全球优质企</a:t>
            </a:r>
          </a:p>
        </p:txBody>
      </p:sp>
      <p:sp>
        <p:nvSpPr>
          <p:cNvPr id="65" name="Rectangle 64"/>
          <p:cNvSpPr/>
          <p:nvPr/>
        </p:nvSpPr>
        <p:spPr>
          <a:xfrm>
            <a:off x="9646919" y="3346703"/>
            <a:ext cx="9144" cy="118872"/>
          </a:xfrm>
          <a:prstGeom prst="rect">
            <a:avLst/>
          </a:prstGeom>
          <a:solidFill>
            <a:srgbClr val="DAD5C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" name="Rectangle 65"/>
          <p:cNvSpPr/>
          <p:nvPr/>
        </p:nvSpPr>
        <p:spPr>
          <a:xfrm>
            <a:off x="9573770" y="3328415"/>
            <a:ext cx="73149" cy="146304"/>
          </a:xfrm>
          <a:prstGeom prst="rect">
            <a:avLst/>
          </a:prstGeom>
          <a:solidFill>
            <a:srgbClr val="BF40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" name="TextBox 66"/>
          <p:cNvSpPr txBox="1"/>
          <p:nvPr/>
        </p:nvSpPr>
        <p:spPr>
          <a:xfrm>
            <a:off x="9692640" y="3282696"/>
            <a:ext cx="502920" cy="201168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0">
                <a:solidFill>
                  <a:srgbClr val="1A2026"/>
                </a:solidFill>
                <a:latin typeface="Microsoft YaHei"/>
              </a:rPr>
              <a:t>-0.27%</a:t>
            </a:r>
          </a:p>
        </p:txBody>
      </p:sp>
      <p:sp>
        <p:nvSpPr>
          <p:cNvPr id="68" name="TextBox 67"/>
          <p:cNvSpPr txBox="1"/>
          <p:nvPr/>
        </p:nvSpPr>
        <p:spPr>
          <a:xfrm>
            <a:off x="640080" y="4160520"/>
            <a:ext cx="2011680" cy="219456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1100" b="1">
                <a:solidFill>
                  <a:srgbClr val="1A2026"/>
                </a:solidFill>
                <a:latin typeface="Microsoft YaHei"/>
              </a:rPr>
              <a:t>基金净值状态</a:t>
            </a:r>
          </a:p>
        </p:txBody>
      </p:sp>
      <p:sp>
        <p:nvSpPr>
          <p:cNvPr id="69" name="TextBox 68"/>
          <p:cNvSpPr txBox="1"/>
          <p:nvPr/>
        </p:nvSpPr>
        <p:spPr>
          <a:xfrm>
            <a:off x="640080" y="4480560"/>
            <a:ext cx="3657600" cy="182880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1">
                <a:solidFill>
                  <a:srgbClr val="65707D"/>
                </a:solidFill>
                <a:latin typeface="Microsoft YaHei"/>
              </a:rPr>
              <a:t>基金</a:t>
            </a:r>
          </a:p>
        </p:txBody>
      </p:sp>
      <p:sp>
        <p:nvSpPr>
          <p:cNvPr id="70" name="TextBox 69"/>
          <p:cNvSpPr txBox="1"/>
          <p:nvPr/>
        </p:nvSpPr>
        <p:spPr>
          <a:xfrm>
            <a:off x="4526280" y="4480560"/>
            <a:ext cx="1325880" cy="182880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1">
                <a:solidFill>
                  <a:srgbClr val="65707D"/>
                </a:solidFill>
                <a:latin typeface="Microsoft YaHei"/>
              </a:rPr>
              <a:t>最新净值</a:t>
            </a:r>
          </a:p>
        </p:txBody>
      </p:sp>
      <p:sp>
        <p:nvSpPr>
          <p:cNvPr id="71" name="TextBox 70"/>
          <p:cNvSpPr txBox="1"/>
          <p:nvPr/>
        </p:nvSpPr>
        <p:spPr>
          <a:xfrm>
            <a:off x="6080760" y="4480560"/>
            <a:ext cx="1417320" cy="182880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1">
                <a:solidFill>
                  <a:srgbClr val="65707D"/>
                </a:solidFill>
                <a:latin typeface="Microsoft YaHei"/>
              </a:rPr>
              <a:t>净值日期</a:t>
            </a:r>
          </a:p>
        </p:txBody>
      </p:sp>
      <p:sp>
        <p:nvSpPr>
          <p:cNvPr id="72" name="TextBox 71"/>
          <p:cNvSpPr txBox="1"/>
          <p:nvPr/>
        </p:nvSpPr>
        <p:spPr>
          <a:xfrm>
            <a:off x="7818120" y="4480560"/>
            <a:ext cx="1417320" cy="182880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1">
                <a:solidFill>
                  <a:srgbClr val="65707D"/>
                </a:solidFill>
                <a:latin typeface="Microsoft YaHei"/>
              </a:rPr>
              <a:t>数据源</a:t>
            </a:r>
          </a:p>
        </p:txBody>
      </p:sp>
      <p:sp>
        <p:nvSpPr>
          <p:cNvPr id="73" name="TextBox 72"/>
          <p:cNvSpPr txBox="1"/>
          <p:nvPr/>
        </p:nvSpPr>
        <p:spPr>
          <a:xfrm>
            <a:off x="640080" y="4800600"/>
            <a:ext cx="3657600" cy="182880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0">
                <a:solidFill>
                  <a:srgbClr val="1A2026"/>
                </a:solidFill>
                <a:latin typeface="Microsoft YaHei"/>
              </a:rPr>
              <a:t>华夏沪深300ETF联接 (000051)</a:t>
            </a:r>
          </a:p>
        </p:txBody>
      </p:sp>
      <p:sp>
        <p:nvSpPr>
          <p:cNvPr id="74" name="TextBox 73"/>
          <p:cNvSpPr txBox="1"/>
          <p:nvPr/>
        </p:nvSpPr>
        <p:spPr>
          <a:xfrm>
            <a:off x="4526280" y="4800600"/>
            <a:ext cx="1325880" cy="182880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0">
                <a:solidFill>
                  <a:srgbClr val="1A2026"/>
                </a:solidFill>
                <a:latin typeface="Microsoft YaHei"/>
              </a:rPr>
              <a:t>1.8009</a:t>
            </a:r>
          </a:p>
        </p:txBody>
      </p:sp>
      <p:sp>
        <p:nvSpPr>
          <p:cNvPr id="75" name="TextBox 74"/>
          <p:cNvSpPr txBox="1"/>
          <p:nvPr/>
        </p:nvSpPr>
        <p:spPr>
          <a:xfrm>
            <a:off x="6080760" y="4800600"/>
            <a:ext cx="1417320" cy="182880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0">
                <a:solidFill>
                  <a:srgbClr val="1A2026"/>
                </a:solidFill>
                <a:latin typeface="Microsoft YaHei"/>
              </a:rPr>
              <a:t>2026-08-18</a:t>
            </a:r>
          </a:p>
        </p:txBody>
      </p:sp>
      <p:sp>
        <p:nvSpPr>
          <p:cNvPr id="76" name="TextBox 75"/>
          <p:cNvSpPr txBox="1"/>
          <p:nvPr/>
        </p:nvSpPr>
        <p:spPr>
          <a:xfrm>
            <a:off x="7818120" y="4800600"/>
            <a:ext cx="1417320" cy="182880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0">
                <a:solidFill>
                  <a:srgbClr val="198974"/>
                </a:solidFill>
                <a:latin typeface="Microsoft YaHei"/>
              </a:rPr>
              <a:t>Eastmoney</a:t>
            </a:r>
          </a:p>
        </p:txBody>
      </p:sp>
      <p:sp>
        <p:nvSpPr>
          <p:cNvPr id="77" name="TextBox 76"/>
          <p:cNvSpPr txBox="1"/>
          <p:nvPr/>
        </p:nvSpPr>
        <p:spPr>
          <a:xfrm>
            <a:off x="640080" y="5102352"/>
            <a:ext cx="3657600" cy="182880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0">
                <a:solidFill>
                  <a:srgbClr val="1A2026"/>
                </a:solidFill>
                <a:latin typeface="Microsoft YaHei"/>
              </a:rPr>
              <a:t>富国红利精选QDII (009108)</a:t>
            </a:r>
          </a:p>
        </p:txBody>
      </p:sp>
      <p:sp>
        <p:nvSpPr>
          <p:cNvPr id="78" name="TextBox 77"/>
          <p:cNvSpPr txBox="1"/>
          <p:nvPr/>
        </p:nvSpPr>
        <p:spPr>
          <a:xfrm>
            <a:off x="4526280" y="5102352"/>
            <a:ext cx="1325880" cy="182880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0">
                <a:solidFill>
                  <a:srgbClr val="1A2026"/>
                </a:solidFill>
                <a:latin typeface="Microsoft YaHei"/>
              </a:rPr>
              <a:t>1.8560</a:t>
            </a:r>
          </a:p>
        </p:txBody>
      </p:sp>
      <p:sp>
        <p:nvSpPr>
          <p:cNvPr id="79" name="TextBox 78"/>
          <p:cNvSpPr txBox="1"/>
          <p:nvPr/>
        </p:nvSpPr>
        <p:spPr>
          <a:xfrm>
            <a:off x="6080760" y="5102352"/>
            <a:ext cx="1417320" cy="182880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0">
                <a:solidFill>
                  <a:srgbClr val="1A2026"/>
                </a:solidFill>
                <a:latin typeface="Microsoft YaHei"/>
              </a:rPr>
              <a:t>2026-08-18</a:t>
            </a:r>
          </a:p>
        </p:txBody>
      </p:sp>
      <p:sp>
        <p:nvSpPr>
          <p:cNvPr id="80" name="TextBox 79"/>
          <p:cNvSpPr txBox="1"/>
          <p:nvPr/>
        </p:nvSpPr>
        <p:spPr>
          <a:xfrm>
            <a:off x="7818120" y="5102352"/>
            <a:ext cx="1417320" cy="182880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0">
                <a:solidFill>
                  <a:srgbClr val="198974"/>
                </a:solidFill>
                <a:latin typeface="Microsoft YaHei"/>
              </a:rPr>
              <a:t>Eastmoney</a:t>
            </a:r>
          </a:p>
        </p:txBody>
      </p:sp>
      <p:sp>
        <p:nvSpPr>
          <p:cNvPr id="81" name="TextBox 80"/>
          <p:cNvSpPr txBox="1"/>
          <p:nvPr/>
        </p:nvSpPr>
        <p:spPr>
          <a:xfrm>
            <a:off x="640080" y="5404104"/>
            <a:ext cx="3657600" cy="182880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0">
                <a:solidFill>
                  <a:srgbClr val="1A2026"/>
                </a:solidFill>
                <a:latin typeface="Microsoft YaHei"/>
              </a:rPr>
              <a:t>纳斯达克100指数QDII (015299)</a:t>
            </a:r>
          </a:p>
        </p:txBody>
      </p:sp>
      <p:sp>
        <p:nvSpPr>
          <p:cNvPr id="82" name="TextBox 81"/>
          <p:cNvSpPr txBox="1"/>
          <p:nvPr/>
        </p:nvSpPr>
        <p:spPr>
          <a:xfrm>
            <a:off x="4526280" y="5404104"/>
            <a:ext cx="1325880" cy="182880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0">
                <a:solidFill>
                  <a:srgbClr val="1A2026"/>
                </a:solidFill>
                <a:latin typeface="Microsoft YaHei"/>
              </a:rPr>
              <a:t>2.0349</a:t>
            </a:r>
          </a:p>
        </p:txBody>
      </p:sp>
      <p:sp>
        <p:nvSpPr>
          <p:cNvPr id="83" name="TextBox 82"/>
          <p:cNvSpPr txBox="1"/>
          <p:nvPr/>
        </p:nvSpPr>
        <p:spPr>
          <a:xfrm>
            <a:off x="6080760" y="5404104"/>
            <a:ext cx="1417320" cy="182880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0">
                <a:solidFill>
                  <a:srgbClr val="1A2026"/>
                </a:solidFill>
                <a:latin typeface="Microsoft YaHei"/>
              </a:rPr>
              <a:t>2026-08-18</a:t>
            </a:r>
          </a:p>
        </p:txBody>
      </p:sp>
      <p:sp>
        <p:nvSpPr>
          <p:cNvPr id="84" name="TextBox 83"/>
          <p:cNvSpPr txBox="1"/>
          <p:nvPr/>
        </p:nvSpPr>
        <p:spPr>
          <a:xfrm>
            <a:off x="7818120" y="5404104"/>
            <a:ext cx="1417320" cy="182880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0">
                <a:solidFill>
                  <a:srgbClr val="198974"/>
                </a:solidFill>
                <a:latin typeface="Microsoft YaHei"/>
              </a:rPr>
              <a:t>Eastmoney</a:t>
            </a:r>
          </a:p>
        </p:txBody>
      </p:sp>
      <p:sp>
        <p:nvSpPr>
          <p:cNvPr id="85" name="TextBox 84"/>
          <p:cNvSpPr txBox="1"/>
          <p:nvPr/>
        </p:nvSpPr>
        <p:spPr>
          <a:xfrm>
            <a:off x="640080" y="5705856"/>
            <a:ext cx="3657600" cy="182880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0">
                <a:solidFill>
                  <a:srgbClr val="1A2026"/>
                </a:solidFill>
                <a:latin typeface="Microsoft YaHei"/>
              </a:rPr>
              <a:t>兴全安泰积极养老五年FOF (010267)</a:t>
            </a:r>
          </a:p>
        </p:txBody>
      </p:sp>
      <p:sp>
        <p:nvSpPr>
          <p:cNvPr id="86" name="TextBox 85"/>
          <p:cNvSpPr txBox="1"/>
          <p:nvPr/>
        </p:nvSpPr>
        <p:spPr>
          <a:xfrm>
            <a:off x="4526280" y="5705856"/>
            <a:ext cx="1325880" cy="182880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0">
                <a:solidFill>
                  <a:srgbClr val="1A2026"/>
                </a:solidFill>
                <a:latin typeface="Microsoft YaHei"/>
              </a:rPr>
              <a:t>1.2758</a:t>
            </a:r>
          </a:p>
        </p:txBody>
      </p:sp>
      <p:sp>
        <p:nvSpPr>
          <p:cNvPr id="87" name="TextBox 86"/>
          <p:cNvSpPr txBox="1"/>
          <p:nvPr/>
        </p:nvSpPr>
        <p:spPr>
          <a:xfrm>
            <a:off x="6080760" y="5705856"/>
            <a:ext cx="1417320" cy="182880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0">
                <a:solidFill>
                  <a:srgbClr val="1A2026"/>
                </a:solidFill>
                <a:latin typeface="Microsoft YaHei"/>
              </a:rPr>
              <a:t>2026-08-17</a:t>
            </a:r>
          </a:p>
        </p:txBody>
      </p:sp>
      <p:sp>
        <p:nvSpPr>
          <p:cNvPr id="88" name="TextBox 87"/>
          <p:cNvSpPr txBox="1"/>
          <p:nvPr/>
        </p:nvSpPr>
        <p:spPr>
          <a:xfrm>
            <a:off x="7818120" y="5705856"/>
            <a:ext cx="1417320" cy="182880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0">
                <a:solidFill>
                  <a:srgbClr val="198974"/>
                </a:solidFill>
                <a:latin typeface="Microsoft YaHei"/>
              </a:rPr>
              <a:t>Eastmoney</a:t>
            </a:r>
          </a:p>
        </p:txBody>
      </p:sp>
      <p:sp>
        <p:nvSpPr>
          <p:cNvPr id="89" name="TextBox 88"/>
          <p:cNvSpPr txBox="1"/>
          <p:nvPr/>
        </p:nvSpPr>
        <p:spPr>
          <a:xfrm>
            <a:off x="640080" y="6007608"/>
            <a:ext cx="3657600" cy="182880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0">
                <a:solidFill>
                  <a:srgbClr val="1A2026"/>
                </a:solidFill>
                <a:latin typeface="Microsoft YaHei"/>
              </a:rPr>
              <a:t>易方达全球优质企业QDII (018229)</a:t>
            </a:r>
          </a:p>
        </p:txBody>
      </p:sp>
      <p:sp>
        <p:nvSpPr>
          <p:cNvPr id="90" name="TextBox 89"/>
          <p:cNvSpPr txBox="1"/>
          <p:nvPr/>
        </p:nvSpPr>
        <p:spPr>
          <a:xfrm>
            <a:off x="4526280" y="6007608"/>
            <a:ext cx="1325880" cy="182880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0">
                <a:solidFill>
                  <a:srgbClr val="1A2026"/>
                </a:solidFill>
                <a:latin typeface="Microsoft YaHei"/>
              </a:rPr>
              <a:t>2.0915</a:t>
            </a:r>
          </a:p>
        </p:txBody>
      </p:sp>
      <p:sp>
        <p:nvSpPr>
          <p:cNvPr id="91" name="TextBox 90"/>
          <p:cNvSpPr txBox="1"/>
          <p:nvPr/>
        </p:nvSpPr>
        <p:spPr>
          <a:xfrm>
            <a:off x="6080760" y="6007608"/>
            <a:ext cx="1417320" cy="182880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0">
                <a:solidFill>
                  <a:srgbClr val="1A2026"/>
                </a:solidFill>
                <a:latin typeface="Microsoft YaHei"/>
              </a:rPr>
              <a:t>2026-08-18</a:t>
            </a:r>
          </a:p>
        </p:txBody>
      </p:sp>
      <p:sp>
        <p:nvSpPr>
          <p:cNvPr id="92" name="TextBox 91"/>
          <p:cNvSpPr txBox="1"/>
          <p:nvPr/>
        </p:nvSpPr>
        <p:spPr>
          <a:xfrm>
            <a:off x="7818120" y="6007608"/>
            <a:ext cx="1417320" cy="182880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0">
                <a:solidFill>
                  <a:srgbClr val="198974"/>
                </a:solidFill>
                <a:latin typeface="Microsoft YaHei"/>
              </a:rPr>
              <a:t>Eastmoney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6E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301752"/>
            <a:ext cx="2011680" cy="228600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1">
                <a:solidFill>
                  <a:srgbClr val="65707D"/>
                </a:solidFill>
                <a:latin typeface="Microsoft YaHei"/>
              </a:rPr>
              <a:t>RISK MAP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530352"/>
            <a:ext cx="8046720" cy="411480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2400" b="1">
                <a:solidFill>
                  <a:srgbClr val="1A2026"/>
                </a:solidFill>
                <a:latin typeface="Microsoft YaHei"/>
              </a:rPr>
              <a:t>风险图谱：回撤与年化波动共同决定关注优先级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" y="1042415"/>
            <a:ext cx="11201400" cy="9144"/>
          </a:xfrm>
          <a:prstGeom prst="rect">
            <a:avLst/>
          </a:prstGeom>
          <a:solidFill>
            <a:srgbClr val="DAD5C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298448"/>
            <a:ext cx="4572000" cy="228600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1100" b="1">
                <a:solidFill>
                  <a:srgbClr val="1A2026"/>
                </a:solidFill>
                <a:latin typeface="Microsoft YaHei"/>
              </a:rPr>
              <a:t>最大回撤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0" y="1298448"/>
            <a:ext cx="4572000" cy="228600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1100" b="1">
                <a:solidFill>
                  <a:srgbClr val="1A2026"/>
                </a:solidFill>
                <a:latin typeface="Microsoft YaHei"/>
              </a:rPr>
              <a:t>年化波动率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719072"/>
            <a:ext cx="2057400" cy="219456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900" b="0">
                <a:solidFill>
                  <a:srgbClr val="1A2026"/>
                </a:solidFill>
                <a:latin typeface="Microsoft YaHei"/>
              </a:rPr>
              <a:t>华夏沪深300ETF</a:t>
            </a:r>
          </a:p>
        </p:txBody>
      </p:sp>
      <p:sp>
        <p:nvSpPr>
          <p:cNvPr id="8" name="Rectangle 7"/>
          <p:cNvSpPr/>
          <p:nvPr/>
        </p:nvSpPr>
        <p:spPr>
          <a:xfrm>
            <a:off x="2788920" y="1737360"/>
            <a:ext cx="902442" cy="201168"/>
          </a:xfrm>
          <a:prstGeom prst="rect">
            <a:avLst/>
          </a:prstGeom>
          <a:solidFill>
            <a:srgbClr val="BF40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285232" y="1719072"/>
            <a:ext cx="685800" cy="219456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0">
                <a:solidFill>
                  <a:srgbClr val="1A2026"/>
                </a:solidFill>
                <a:latin typeface="Microsoft YaHei"/>
              </a:rPr>
              <a:t>-9.41%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0" y="1719072"/>
            <a:ext cx="2057400" cy="219456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900" b="0">
                <a:solidFill>
                  <a:srgbClr val="1A2026"/>
                </a:solidFill>
                <a:latin typeface="Microsoft YaHei"/>
              </a:rPr>
              <a:t>华夏沪深300ETF</a:t>
            </a:r>
          </a:p>
        </p:txBody>
      </p:sp>
      <p:sp>
        <p:nvSpPr>
          <p:cNvPr id="11" name="Rectangle 10"/>
          <p:cNvSpPr/>
          <p:nvPr/>
        </p:nvSpPr>
        <p:spPr>
          <a:xfrm>
            <a:off x="8549640" y="1737360"/>
            <a:ext cx="1199445" cy="201168"/>
          </a:xfrm>
          <a:prstGeom prst="rect">
            <a:avLst/>
          </a:prstGeom>
          <a:solidFill>
            <a:srgbClr val="BF84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1045952" y="1719072"/>
            <a:ext cx="685800" cy="219456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0">
                <a:solidFill>
                  <a:srgbClr val="1A2026"/>
                </a:solidFill>
                <a:latin typeface="Microsoft YaHei"/>
              </a:rPr>
              <a:t>20.13%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0080" y="2313432"/>
            <a:ext cx="2057400" cy="219456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900" b="0">
                <a:solidFill>
                  <a:srgbClr val="1A2026"/>
                </a:solidFill>
                <a:latin typeface="Microsoft YaHei"/>
              </a:rPr>
              <a:t>富国红利精选QDII</a:t>
            </a:r>
          </a:p>
        </p:txBody>
      </p:sp>
      <p:sp>
        <p:nvSpPr>
          <p:cNvPr id="14" name="Rectangle 13"/>
          <p:cNvSpPr/>
          <p:nvPr/>
        </p:nvSpPr>
        <p:spPr>
          <a:xfrm>
            <a:off x="2788920" y="2331720"/>
            <a:ext cx="1462491" cy="201168"/>
          </a:xfrm>
          <a:prstGeom prst="rect">
            <a:avLst/>
          </a:prstGeom>
          <a:solidFill>
            <a:srgbClr val="BF40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285232" y="2313432"/>
            <a:ext cx="685800" cy="219456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0">
                <a:solidFill>
                  <a:srgbClr val="1A2026"/>
                </a:solidFill>
                <a:latin typeface="Microsoft YaHei"/>
              </a:rPr>
              <a:t>-15.26%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00800" y="2313432"/>
            <a:ext cx="2057400" cy="219456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900" b="0">
                <a:solidFill>
                  <a:srgbClr val="1A2026"/>
                </a:solidFill>
                <a:latin typeface="Microsoft YaHei"/>
              </a:rPr>
              <a:t>富国红利精选QDII</a:t>
            </a:r>
          </a:p>
        </p:txBody>
      </p:sp>
      <p:sp>
        <p:nvSpPr>
          <p:cNvPr id="17" name="Rectangle 16"/>
          <p:cNvSpPr/>
          <p:nvPr/>
        </p:nvSpPr>
        <p:spPr>
          <a:xfrm>
            <a:off x="8549640" y="2331720"/>
            <a:ext cx="756265" cy="201168"/>
          </a:xfrm>
          <a:prstGeom prst="rect">
            <a:avLst/>
          </a:prstGeom>
          <a:solidFill>
            <a:srgbClr val="BF40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1045952" y="2313432"/>
            <a:ext cx="685800" cy="219456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0">
                <a:solidFill>
                  <a:srgbClr val="1A2026"/>
                </a:solidFill>
                <a:latin typeface="Microsoft YaHei"/>
              </a:rPr>
              <a:t>12.69%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40080" y="2907792"/>
            <a:ext cx="2057400" cy="219456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900" b="0">
                <a:solidFill>
                  <a:srgbClr val="1A2026"/>
                </a:solidFill>
                <a:latin typeface="Microsoft YaHei"/>
              </a:rPr>
              <a:t>纳斯达克100指数Q</a:t>
            </a:r>
          </a:p>
        </p:txBody>
      </p:sp>
      <p:sp>
        <p:nvSpPr>
          <p:cNvPr id="20" name="Rectangle 19"/>
          <p:cNvSpPr/>
          <p:nvPr/>
        </p:nvSpPr>
        <p:spPr>
          <a:xfrm>
            <a:off x="2788920" y="2926080"/>
            <a:ext cx="1004265" cy="201168"/>
          </a:xfrm>
          <a:prstGeom prst="rect">
            <a:avLst/>
          </a:prstGeom>
          <a:solidFill>
            <a:srgbClr val="BF40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5285232" y="2907792"/>
            <a:ext cx="685800" cy="219456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0">
                <a:solidFill>
                  <a:srgbClr val="1A2026"/>
                </a:solidFill>
                <a:latin typeface="Microsoft YaHei"/>
              </a:rPr>
              <a:t>-10.48%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400800" y="2907792"/>
            <a:ext cx="2057400" cy="219456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900" b="0">
                <a:solidFill>
                  <a:srgbClr val="1A2026"/>
                </a:solidFill>
                <a:latin typeface="Microsoft YaHei"/>
              </a:rPr>
              <a:t>纳斯达克100指数Q</a:t>
            </a:r>
          </a:p>
        </p:txBody>
      </p:sp>
      <p:sp>
        <p:nvSpPr>
          <p:cNvPr id="23" name="Rectangle 22"/>
          <p:cNvSpPr/>
          <p:nvPr/>
        </p:nvSpPr>
        <p:spPr>
          <a:xfrm>
            <a:off x="8549640" y="2926080"/>
            <a:ext cx="1340456" cy="201168"/>
          </a:xfrm>
          <a:prstGeom prst="rect">
            <a:avLst/>
          </a:prstGeom>
          <a:solidFill>
            <a:srgbClr val="BF40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11045952" y="2907792"/>
            <a:ext cx="685800" cy="219456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0">
                <a:solidFill>
                  <a:srgbClr val="1A2026"/>
                </a:solidFill>
                <a:latin typeface="Microsoft YaHei"/>
              </a:rPr>
              <a:t>22.50%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40080" y="3502152"/>
            <a:ext cx="2057400" cy="219456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900" b="0">
                <a:solidFill>
                  <a:srgbClr val="1A2026"/>
                </a:solidFill>
                <a:latin typeface="Microsoft YaHei"/>
              </a:rPr>
              <a:t>兴全安泰积极养老五年</a:t>
            </a:r>
          </a:p>
        </p:txBody>
      </p:sp>
      <p:sp>
        <p:nvSpPr>
          <p:cNvPr id="26" name="Rectangle 25"/>
          <p:cNvSpPr/>
          <p:nvPr/>
        </p:nvSpPr>
        <p:spPr>
          <a:xfrm>
            <a:off x="2788920" y="3520440"/>
            <a:ext cx="631857" cy="201168"/>
          </a:xfrm>
          <a:prstGeom prst="rect">
            <a:avLst/>
          </a:prstGeom>
          <a:solidFill>
            <a:srgbClr val="BF40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5285232" y="3502152"/>
            <a:ext cx="685800" cy="219456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0">
                <a:solidFill>
                  <a:srgbClr val="1A2026"/>
                </a:solidFill>
                <a:latin typeface="Microsoft YaHei"/>
              </a:rPr>
              <a:t>-6.59%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400800" y="3502152"/>
            <a:ext cx="2057400" cy="219456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900" b="0">
                <a:solidFill>
                  <a:srgbClr val="1A2026"/>
                </a:solidFill>
                <a:latin typeface="Microsoft YaHei"/>
              </a:rPr>
              <a:t>兴全安泰积极养老五年</a:t>
            </a:r>
          </a:p>
        </p:txBody>
      </p:sp>
      <p:sp>
        <p:nvSpPr>
          <p:cNvPr id="29" name="Rectangle 28"/>
          <p:cNvSpPr/>
          <p:nvPr/>
        </p:nvSpPr>
        <p:spPr>
          <a:xfrm>
            <a:off x="8549640" y="3520440"/>
            <a:ext cx="911440" cy="201168"/>
          </a:xfrm>
          <a:prstGeom prst="rect">
            <a:avLst/>
          </a:prstGeom>
          <a:solidFill>
            <a:srgbClr val="BF84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11045952" y="3502152"/>
            <a:ext cx="685800" cy="219456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0">
                <a:solidFill>
                  <a:srgbClr val="1A2026"/>
                </a:solidFill>
                <a:latin typeface="Microsoft YaHei"/>
              </a:rPr>
              <a:t>15.30%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40080" y="4096512"/>
            <a:ext cx="2057400" cy="219456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900" b="0">
                <a:solidFill>
                  <a:srgbClr val="1A2026"/>
                </a:solidFill>
                <a:latin typeface="Microsoft YaHei"/>
              </a:rPr>
              <a:t>易方达全球优质企业Q</a:t>
            </a:r>
          </a:p>
        </p:txBody>
      </p:sp>
      <p:sp>
        <p:nvSpPr>
          <p:cNvPr id="32" name="Rectangle 31"/>
          <p:cNvSpPr/>
          <p:nvPr/>
        </p:nvSpPr>
        <p:spPr>
          <a:xfrm>
            <a:off x="2788920" y="4114800"/>
            <a:ext cx="2377440" cy="201168"/>
          </a:xfrm>
          <a:prstGeom prst="rect">
            <a:avLst/>
          </a:prstGeom>
          <a:solidFill>
            <a:srgbClr val="BF40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5285232" y="4096512"/>
            <a:ext cx="685800" cy="219456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0">
                <a:solidFill>
                  <a:srgbClr val="1A2026"/>
                </a:solidFill>
                <a:latin typeface="Microsoft YaHei"/>
              </a:rPr>
              <a:t>-24.80%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400800" y="4096512"/>
            <a:ext cx="2057400" cy="219456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900" b="0">
                <a:solidFill>
                  <a:srgbClr val="1A2026"/>
                </a:solidFill>
                <a:latin typeface="Microsoft YaHei"/>
              </a:rPr>
              <a:t>易方达全球优质企业Q</a:t>
            </a:r>
          </a:p>
        </p:txBody>
      </p:sp>
      <p:sp>
        <p:nvSpPr>
          <p:cNvPr id="35" name="Rectangle 34"/>
          <p:cNvSpPr/>
          <p:nvPr/>
        </p:nvSpPr>
        <p:spPr>
          <a:xfrm>
            <a:off x="8549640" y="4114800"/>
            <a:ext cx="2377440" cy="201168"/>
          </a:xfrm>
          <a:prstGeom prst="rect">
            <a:avLst/>
          </a:prstGeom>
          <a:solidFill>
            <a:srgbClr val="BF40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11045952" y="4096512"/>
            <a:ext cx="685800" cy="219456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0">
                <a:solidFill>
                  <a:srgbClr val="1A2026"/>
                </a:solidFill>
                <a:latin typeface="Microsoft YaHei"/>
              </a:rPr>
              <a:t>39.91%</a:t>
            </a:r>
          </a:p>
        </p:txBody>
      </p:sp>
      <p:sp>
        <p:nvSpPr>
          <p:cNvPr id="37" name="Rectangle 36"/>
          <p:cNvSpPr/>
          <p:nvPr/>
        </p:nvSpPr>
        <p:spPr>
          <a:xfrm>
            <a:off x="640080" y="5166360"/>
            <a:ext cx="10607040" cy="640080"/>
          </a:xfrm>
          <a:prstGeom prst="rect">
            <a:avLst/>
          </a:prstGeom>
          <a:solidFill>
            <a:srgbClr val="FFFDF8"/>
          </a:solidFill>
          <a:ln w="6350">
            <a:solidFill>
              <a:srgbClr val="DAD5C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868680" y="5340096"/>
            <a:ext cx="9966960" cy="256032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1400" b="1">
                <a:solidFill>
                  <a:srgbClr val="BF4040"/>
                </a:solidFill>
                <a:latin typeface="Microsoft YaHei"/>
              </a:rPr>
              <a:t>高风险关注：富国红利精选QDII、纳斯达克100指数QDII、易方达全球优质企业QDII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6E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301752"/>
            <a:ext cx="2011680" cy="228600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1">
                <a:solidFill>
                  <a:srgbClr val="65707D"/>
                </a:solidFill>
                <a:latin typeface="Microsoft YaHei"/>
              </a:rPr>
              <a:t>DELIVERY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530352"/>
            <a:ext cx="8046720" cy="411480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2400" b="1">
                <a:solidFill>
                  <a:srgbClr val="1A2026"/>
                </a:solidFill>
                <a:latin typeface="Microsoft YaHei"/>
              </a:rPr>
              <a:t>数据源与下载说明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" y="1042415"/>
            <a:ext cx="11201400" cy="9144"/>
          </a:xfrm>
          <a:prstGeom prst="rect">
            <a:avLst/>
          </a:prstGeom>
          <a:solidFill>
            <a:srgbClr val="DAD5C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85800" y="1417320"/>
            <a:ext cx="9875520" cy="365760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2000" b="1">
                <a:solidFill>
                  <a:srgbClr val="198974"/>
                </a:solidFill>
                <a:latin typeface="Microsoft YaHei"/>
              </a:rPr>
              <a:t>五只基金均使用 Eastmoney/Tiantian Fund 真实净值。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85800" y="1965960"/>
            <a:ext cx="9875520" cy="320040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1400" b="0">
                <a:solidFill>
                  <a:srgbClr val="1A2026"/>
                </a:solidFill>
                <a:latin typeface="Microsoft YaHei"/>
              </a:rPr>
              <a:t>PPTX 文件路径：reports/2026-08-19.pptx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85800" y="2359152"/>
            <a:ext cx="9875520" cy="320040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1400" b="0">
                <a:solidFill>
                  <a:srgbClr val="1A2026"/>
                </a:solidFill>
                <a:latin typeface="Microsoft YaHei"/>
              </a:rPr>
              <a:t>Markdown 文件路径：reports/2026-08-19.md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85800" y="3063240"/>
            <a:ext cx="2103120" cy="228600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1100" b="1">
                <a:solidFill>
                  <a:srgbClr val="1A2026"/>
                </a:solidFill>
                <a:latin typeface="Microsoft YaHei"/>
              </a:rPr>
              <a:t>数据新鲜度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85800" y="3474720"/>
            <a:ext cx="2743200" cy="201168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900" b="0">
                <a:solidFill>
                  <a:srgbClr val="1A2026"/>
                </a:solidFill>
                <a:latin typeface="Microsoft YaHei"/>
              </a:rPr>
              <a:t>华夏沪深300ETF联接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703320" y="3474720"/>
            <a:ext cx="1371600" cy="201168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900" b="0">
                <a:solidFill>
                  <a:srgbClr val="65707D"/>
                </a:solidFill>
                <a:latin typeface="Microsoft YaHei"/>
              </a:rPr>
              <a:t>2026-08-18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303520" y="3474720"/>
            <a:ext cx="1463040" cy="201168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900" b="0">
                <a:solidFill>
                  <a:srgbClr val="198974"/>
                </a:solidFill>
                <a:latin typeface="Microsoft YaHei"/>
              </a:rPr>
              <a:t>Eastmoney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903720" y="3474720"/>
            <a:ext cx="2011680" cy="201168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900" b="1">
                <a:solidFill>
                  <a:srgbClr val="BF842D"/>
                </a:solidFill>
                <a:latin typeface="Microsoft YaHei"/>
              </a:rPr>
              <a:t>中等波动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85800" y="3858768"/>
            <a:ext cx="2743200" cy="201168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900" b="0">
                <a:solidFill>
                  <a:srgbClr val="1A2026"/>
                </a:solidFill>
                <a:latin typeface="Microsoft YaHei"/>
              </a:rPr>
              <a:t>富国红利精选QDII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703320" y="3858768"/>
            <a:ext cx="1371600" cy="201168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900" b="0">
                <a:solidFill>
                  <a:srgbClr val="65707D"/>
                </a:solidFill>
                <a:latin typeface="Microsoft YaHei"/>
              </a:rPr>
              <a:t>2026-08-18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303520" y="3858768"/>
            <a:ext cx="1463040" cy="201168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900" b="0">
                <a:solidFill>
                  <a:srgbClr val="198974"/>
                </a:solidFill>
                <a:latin typeface="Microsoft YaHei"/>
              </a:rPr>
              <a:t>Eastmoney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903720" y="3858768"/>
            <a:ext cx="2011680" cy="201168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900" b="1">
                <a:solidFill>
                  <a:srgbClr val="BF4040"/>
                </a:solidFill>
                <a:latin typeface="Microsoft YaHei"/>
              </a:rPr>
              <a:t>高风险关注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85800" y="4242816"/>
            <a:ext cx="2743200" cy="201168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900" b="0">
                <a:solidFill>
                  <a:srgbClr val="1A2026"/>
                </a:solidFill>
                <a:latin typeface="Microsoft YaHei"/>
              </a:rPr>
              <a:t>纳斯达克100指数QDII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703320" y="4242816"/>
            <a:ext cx="1371600" cy="201168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900" b="0">
                <a:solidFill>
                  <a:srgbClr val="65707D"/>
                </a:solidFill>
                <a:latin typeface="Microsoft YaHei"/>
              </a:rPr>
              <a:t>2026-08-18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303520" y="4242816"/>
            <a:ext cx="1463040" cy="201168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900" b="0">
                <a:solidFill>
                  <a:srgbClr val="198974"/>
                </a:solidFill>
                <a:latin typeface="Microsoft YaHei"/>
              </a:rPr>
              <a:t>Eastmoney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903720" y="4242816"/>
            <a:ext cx="2011680" cy="201168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900" b="1">
                <a:solidFill>
                  <a:srgbClr val="BF4040"/>
                </a:solidFill>
                <a:latin typeface="Microsoft YaHei"/>
              </a:rPr>
              <a:t>高风险关注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85800" y="4626864"/>
            <a:ext cx="2743200" cy="201168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900" b="0">
                <a:solidFill>
                  <a:srgbClr val="1A2026"/>
                </a:solidFill>
                <a:latin typeface="Microsoft YaHei"/>
              </a:rPr>
              <a:t>兴全安泰积极养老五年FOF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703320" y="4626864"/>
            <a:ext cx="1371600" cy="201168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900" b="0">
                <a:solidFill>
                  <a:srgbClr val="65707D"/>
                </a:solidFill>
                <a:latin typeface="Microsoft YaHei"/>
              </a:rPr>
              <a:t>2026-08-17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303520" y="4626864"/>
            <a:ext cx="1463040" cy="201168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900" b="0">
                <a:solidFill>
                  <a:srgbClr val="198974"/>
                </a:solidFill>
                <a:latin typeface="Microsoft YaHei"/>
              </a:rPr>
              <a:t>Eastmoney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903720" y="4626864"/>
            <a:ext cx="2011680" cy="201168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900" b="1">
                <a:solidFill>
                  <a:srgbClr val="BF842D"/>
                </a:solidFill>
                <a:latin typeface="Microsoft YaHei"/>
              </a:rPr>
              <a:t>中等波动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85800" y="5010912"/>
            <a:ext cx="2743200" cy="201168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900" b="0">
                <a:solidFill>
                  <a:srgbClr val="1A2026"/>
                </a:solidFill>
                <a:latin typeface="Microsoft YaHei"/>
              </a:rPr>
              <a:t>易方达全球优质企业QDII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3703320" y="5010912"/>
            <a:ext cx="1371600" cy="201168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900" b="0">
                <a:solidFill>
                  <a:srgbClr val="65707D"/>
                </a:solidFill>
                <a:latin typeface="Microsoft YaHei"/>
              </a:rPr>
              <a:t>2026-08-18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303520" y="5010912"/>
            <a:ext cx="1463040" cy="201168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900" b="0">
                <a:solidFill>
                  <a:srgbClr val="198974"/>
                </a:solidFill>
                <a:latin typeface="Microsoft YaHei"/>
              </a:rPr>
              <a:t>Eastmoney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903720" y="5010912"/>
            <a:ext cx="2011680" cy="201168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900" b="1">
                <a:solidFill>
                  <a:srgbClr val="BF4040"/>
                </a:solidFill>
                <a:latin typeface="Microsoft YaHei"/>
              </a:rPr>
              <a:t>高风险关注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85800" y="5742432"/>
            <a:ext cx="9875520" cy="228600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900" b="0">
                <a:solidFill>
                  <a:srgbClr val="65707D"/>
                </a:solidFill>
                <a:latin typeface="Microsoft YaHei"/>
              </a:rPr>
              <a:t>提示：本报告仅用于投资记录和风险监测，不构成收益保证或买卖建议。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