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01752"/>
            <a:ext cx="201168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FUND TRACKER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046720" cy="4114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A2026"/>
                </a:solidFill>
                <a:latin typeface="Microsoft YaHei"/>
              </a:rPr>
              <a:t>基金组合日报 2026-06-27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42415"/>
            <a:ext cx="11201400" cy="9144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417320"/>
            <a:ext cx="5303520" cy="50292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800" b="1">
                <a:solidFill>
                  <a:srgbClr val="1A2026"/>
                </a:solidFill>
                <a:latin typeface="Microsoft YaHei"/>
              </a:rPr>
              <a:t>真实净值驱动的每日组合快照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6035040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65707D"/>
                </a:solidFill>
                <a:latin typeface="Microsoft YaHei"/>
              </a:rPr>
              <a:t>含收益表现、回撤波动、数据源状态与高风险基金提示。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788920"/>
            <a:ext cx="2331720" cy="132588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2953512"/>
            <a:ext cx="1929384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65707D"/>
                </a:solidFill>
                <a:latin typeface="Microsoft YaHei"/>
              </a:rPr>
              <a:t>平均日涨跌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218687"/>
            <a:ext cx="1929384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98974"/>
                </a:solidFill>
                <a:latin typeface="Microsoft YaHei"/>
              </a:rPr>
              <a:t>0.51%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3685031"/>
            <a:ext cx="1929384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五只基金简单平均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6120" y="2788920"/>
            <a:ext cx="2331720" cy="132588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47288" y="2953512"/>
            <a:ext cx="1929384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65707D"/>
                </a:solidFill>
                <a:latin typeface="Microsoft YaHei"/>
              </a:rPr>
              <a:t>平均近1月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47288" y="3218687"/>
            <a:ext cx="1929384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98974"/>
                </a:solidFill>
                <a:latin typeface="Microsoft YaHei"/>
              </a:rPr>
              <a:t>1.05%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47288" y="3685031"/>
            <a:ext cx="1929384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五只基金简单平均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52160" y="2788920"/>
            <a:ext cx="2331720" cy="132588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53328" y="2953512"/>
            <a:ext cx="1929384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65707D"/>
                </a:solidFill>
                <a:latin typeface="Microsoft YaHei"/>
              </a:rPr>
              <a:t>高风险关注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53328" y="3218687"/>
            <a:ext cx="1929384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BF4040"/>
                </a:solidFill>
                <a:latin typeface="Microsoft YaHe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53328" y="3685031"/>
            <a:ext cx="1929384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回撤或波动触发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58200" y="2788920"/>
            <a:ext cx="2331720" cy="132588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59368" y="2953512"/>
            <a:ext cx="1929384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65707D"/>
                </a:solidFill>
                <a:latin typeface="Microsoft YaHei"/>
              </a:rPr>
              <a:t>Fallback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59368" y="3218687"/>
            <a:ext cx="1929384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98974"/>
                </a:solidFill>
                <a:latin typeface="Microsoft YaHei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59368" y="3685031"/>
            <a:ext cx="1929384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真实数据失败数量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709160"/>
            <a:ext cx="2560320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今日风险判断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5047488"/>
            <a:ext cx="10149840" cy="73152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5248656"/>
            <a:ext cx="9555480" cy="31089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600" b="1">
                <a:solidFill>
                  <a:srgbClr val="BF4040"/>
                </a:solidFill>
                <a:latin typeface="Microsoft YaHei"/>
              </a:rPr>
              <a:t>存在高风险关注基金，建议复核 QDII 汇率、海外科技股估值与短期回撤。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01752"/>
            <a:ext cx="201168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RETURNS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046720" cy="4114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A2026"/>
                </a:solidFill>
                <a:latin typeface="Microsoft YaHei"/>
              </a:rPr>
              <a:t>收益表现：近1月分化明显，QDII 贡献主要波动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42415"/>
            <a:ext cx="11201400" cy="9144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338328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当日涨跌幅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华夏沪深300E</a:t>
            </a:r>
          </a:p>
        </p:txBody>
      </p:sp>
      <p:sp>
        <p:nvSpPr>
          <p:cNvPr id="7" name="Rectangle 6"/>
          <p:cNvSpPr/>
          <p:nvPr/>
        </p:nvSpPr>
        <p:spPr>
          <a:xfrm>
            <a:off x="2423160" y="1810512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01808" y="1792224"/>
            <a:ext cx="821351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68879" y="1746504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-2.75%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21408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富国红利精选QD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23160" y="2194560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172105" y="2176272"/>
            <a:ext cx="251054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68879" y="2130552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-0.84%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505456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纳斯达克100指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23160" y="2578608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423160" y="2560320"/>
            <a:ext cx="199887" cy="146304"/>
          </a:xfrm>
          <a:prstGeom prst="rect">
            <a:avLst/>
          </a:prstGeom>
          <a:solidFill>
            <a:srgbClr val="198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68767" y="2514600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0.67%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889503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兴全安泰积极养老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23160" y="2962656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423160" y="2944368"/>
            <a:ext cx="304262" cy="146304"/>
          </a:xfrm>
          <a:prstGeom prst="rect">
            <a:avLst/>
          </a:prstGeom>
          <a:solidFill>
            <a:srgbClr val="198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73142" y="2898648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1.02%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273551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易方达全球优质企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423160" y="3346703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423160" y="3328415"/>
            <a:ext cx="1325880" cy="146304"/>
          </a:xfrm>
          <a:prstGeom prst="rect">
            <a:avLst/>
          </a:prstGeom>
          <a:solidFill>
            <a:srgbClr val="198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94759" y="3282696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4.43%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51960" y="1371600"/>
            <a:ext cx="338328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近1周收益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51960" y="1737360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华夏沪深300E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0" y="1810512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811137" y="1792224"/>
            <a:ext cx="223902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80760" y="1746504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-1.27%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51960" y="2121408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富国红利精选QD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35040" y="2194560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321333" y="2176272"/>
            <a:ext cx="713706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80760" y="2130552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-4.04%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51960" y="2505456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纳斯达克100指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35040" y="2578608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012652" y="2560320"/>
            <a:ext cx="22387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80760" y="2514600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-0.13%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51960" y="2889503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兴全安泰积极养老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35040" y="2962656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035040" y="2944368"/>
            <a:ext cx="249755" cy="146304"/>
          </a:xfrm>
          <a:prstGeom prst="rect">
            <a:avLst/>
          </a:prstGeom>
          <a:solidFill>
            <a:srgbClr val="198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30515" y="2898648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1.41%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51960" y="3273551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易方达全球优质企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35040" y="3346703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035040" y="3328415"/>
            <a:ext cx="1325880" cy="146304"/>
          </a:xfrm>
          <a:prstGeom prst="rect">
            <a:avLst/>
          </a:prstGeom>
          <a:solidFill>
            <a:srgbClr val="198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406640" y="3282696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7.50%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63840" y="1371600"/>
            <a:ext cx="338328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近1个月收益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63840" y="1737360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华夏沪深300E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646919" y="1810512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610739" y="1792224"/>
            <a:ext cx="36180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692640" y="1746504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-0.43%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0" y="2121408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富国红利精选QD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646919" y="2194560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891443" y="2176272"/>
            <a:ext cx="755476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692640" y="2130552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-9.05%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863840" y="2505456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纳斯达克100指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646919" y="2578608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545467" y="2560320"/>
            <a:ext cx="101452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692640" y="2514600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-1.21%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863840" y="2889503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兴全安泰积极养老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646919" y="2962656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9646919" y="2944368"/>
            <a:ext cx="18288" cy="146304"/>
          </a:xfrm>
          <a:prstGeom prst="rect">
            <a:avLst/>
          </a:prstGeom>
          <a:solidFill>
            <a:srgbClr val="198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710928" y="2898648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0.05%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63840" y="3273551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易方达全球优质企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646919" y="3346703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646919" y="3328415"/>
            <a:ext cx="1325880" cy="146304"/>
          </a:xfrm>
          <a:prstGeom prst="rect">
            <a:avLst/>
          </a:prstGeom>
          <a:solidFill>
            <a:srgbClr val="198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1018519" y="3282696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15.88%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0080" y="4160520"/>
            <a:ext cx="201168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基金净值状态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0080" y="4480560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基金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26280" y="4480560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最新净值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080760" y="4480560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净值日期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18120" y="4480560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数据源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40080" y="4800600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华夏沪深300ETF联接 (000051)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526280" y="4800600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1.8386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080760" y="4800600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2026-06-26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18120" y="4800600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40080" y="5102352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富国红利精选QDII (009108)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526280" y="5102352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1.8671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080760" y="5102352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2026-06-25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818120" y="5102352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40080" y="5404104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纳斯达克100指数QDII (015299)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526280" y="5404104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2.0492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080760" y="5404104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2026-06-25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818120" y="5404104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40080" y="5705856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兴全安泰积极养老五年FOF (010267)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526280" y="5705856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1.2913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080760" y="5705856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2026-06-24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818120" y="5705856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40080" y="6007608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易方达全球优质企业QDII (018229)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526280" y="6007608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2.6487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080760" y="6007608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2026-06-25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818120" y="6007608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01752"/>
            <a:ext cx="201168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046720" cy="4114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A2026"/>
                </a:solidFill>
                <a:latin typeface="Microsoft YaHei"/>
              </a:rPr>
              <a:t>风险图谱：回撤与年化波动共同决定关注优先级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42415"/>
            <a:ext cx="11201400" cy="9144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457200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最大回撤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98448"/>
            <a:ext cx="457200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年化波动率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1907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华夏沪深300ETF</a:t>
            </a:r>
          </a:p>
        </p:txBody>
      </p:sp>
      <p:sp>
        <p:nvSpPr>
          <p:cNvPr id="8" name="Rectangle 7"/>
          <p:cNvSpPr/>
          <p:nvPr/>
        </p:nvSpPr>
        <p:spPr>
          <a:xfrm>
            <a:off x="2788920" y="1737360"/>
            <a:ext cx="1174349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85232" y="171907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-6.41%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71907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华夏沪深300ETF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49640" y="1737360"/>
            <a:ext cx="1120424" cy="201168"/>
          </a:xfrm>
          <a:prstGeom prst="rect">
            <a:avLst/>
          </a:prstGeom>
          <a:solidFill>
            <a:srgbClr val="BF84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45952" y="171907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18.06%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31343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富国红利精选QDII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88920" y="2331720"/>
            <a:ext cx="2377440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85232" y="231343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-12.98%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31343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富国红利精选QDII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49640" y="2331720"/>
            <a:ext cx="994342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45952" y="231343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16.02%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290779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纳斯达克100指数Q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88920" y="2926080"/>
            <a:ext cx="1612614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85232" y="290779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-8.81%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90779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纳斯达克100指数Q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549640" y="2926080"/>
            <a:ext cx="1362089" cy="201168"/>
          </a:xfrm>
          <a:prstGeom prst="rect">
            <a:avLst/>
          </a:prstGeom>
          <a:solidFill>
            <a:srgbClr val="BF84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045952" y="290779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21.95%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50215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兴全安泰积极养老五年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88920" y="3520440"/>
            <a:ext cx="1181362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85232" y="350215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-6.45%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350215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兴全安泰积极养老五年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49640" y="3520440"/>
            <a:ext cx="861136" cy="201168"/>
          </a:xfrm>
          <a:prstGeom prst="rect">
            <a:avLst/>
          </a:prstGeom>
          <a:solidFill>
            <a:srgbClr val="BF84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045952" y="350215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13.88%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409651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易方达全球优质企业Q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88920" y="4114800"/>
            <a:ext cx="1692357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285232" y="409651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-9.24%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09651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易方达全球优质企业Q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549640" y="4114800"/>
            <a:ext cx="2377440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045952" y="409651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38.31%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5166360"/>
            <a:ext cx="10607040" cy="64008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5340096"/>
            <a:ext cx="9966960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1">
                <a:solidFill>
                  <a:srgbClr val="BF4040"/>
                </a:solidFill>
                <a:latin typeface="Microsoft YaHei"/>
              </a:rPr>
              <a:t>高风险关注：富国红利精选QDII、易方达全球优质企业QDII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01752"/>
            <a:ext cx="201168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DELIVERY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046720" cy="4114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A2026"/>
                </a:solidFill>
                <a:latin typeface="Microsoft YaHei"/>
              </a:rPr>
              <a:t>数据源与下载说明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42415"/>
            <a:ext cx="11201400" cy="9144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9875520" cy="36576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000" b="1">
                <a:solidFill>
                  <a:srgbClr val="198974"/>
                </a:solidFill>
                <a:latin typeface="Microsoft YaHei"/>
              </a:rPr>
              <a:t>五只基金均使用 Eastmoney/Tiantian Fund 真实净值。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65960"/>
            <a:ext cx="9875520" cy="32004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1A2026"/>
                </a:solidFill>
                <a:latin typeface="Microsoft YaHei"/>
              </a:rPr>
              <a:t>PPTX 文件路径：reports/2026-06-27.pptx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59152"/>
            <a:ext cx="9875520" cy="32004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1A2026"/>
                </a:solidFill>
                <a:latin typeface="Microsoft YaHei"/>
              </a:rPr>
              <a:t>Markdown 文件路径：reports/2026-06-27.md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063240"/>
            <a:ext cx="210312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数据新鲜度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474720"/>
            <a:ext cx="27432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华夏沪深300ETF联接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3474720"/>
            <a:ext cx="13716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2026-06-26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3474720"/>
            <a:ext cx="14630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20" y="3474720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BF842D"/>
                </a:solidFill>
                <a:latin typeface="Microsoft YaHei"/>
              </a:rPr>
              <a:t>中等波动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858768"/>
            <a:ext cx="27432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富国红利精选QDII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3858768"/>
            <a:ext cx="13716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2026-06-25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3858768"/>
            <a:ext cx="14630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3858768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BF4040"/>
                </a:solidFill>
                <a:latin typeface="Microsoft YaHei"/>
              </a:rPr>
              <a:t>高风险关注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242816"/>
            <a:ext cx="27432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纳斯达克100指数QDII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03320" y="4242816"/>
            <a:ext cx="13716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2026-06-25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4242816"/>
            <a:ext cx="14630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4242816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BF842D"/>
                </a:solidFill>
                <a:latin typeface="Microsoft YaHei"/>
              </a:rPr>
              <a:t>中等波动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626864"/>
            <a:ext cx="27432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兴全安泰积极养老五年FOF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03320" y="4626864"/>
            <a:ext cx="13716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2026-06-24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4626864"/>
            <a:ext cx="14630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626864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BF842D"/>
                </a:solidFill>
                <a:latin typeface="Microsoft YaHei"/>
              </a:rPr>
              <a:t>中等波动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5010912"/>
            <a:ext cx="27432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易方达全球优质企业QDII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03320" y="5010912"/>
            <a:ext cx="13716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2026-06-25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5010912"/>
            <a:ext cx="14630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3720" y="5010912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BF4040"/>
                </a:solidFill>
                <a:latin typeface="Microsoft YaHei"/>
              </a:rPr>
              <a:t>高风险关注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5742432"/>
            <a:ext cx="987552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提示：本报告仅用于投资记录和风险监测，不构成收益保证或买卖建议。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