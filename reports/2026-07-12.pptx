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FUND TRACKER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基金组合日报 2026-07-12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21792" y="1417320"/>
            <a:ext cx="5303520" cy="50292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800" b="1">
                <a:solidFill>
                  <a:srgbClr val="1A2026"/>
                </a:solidFill>
                <a:latin typeface="Microsoft YaHei"/>
              </a:rPr>
              <a:t>真实净值驱动的每日组合快照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6035040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65707D"/>
                </a:solidFill>
                <a:latin typeface="Microsoft YaHei"/>
              </a:rPr>
              <a:t>含收益表现、回撤波动、数据源状态与高风险基金提示。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平均日涨跌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0.38%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4728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平均近1月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1.77%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4728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五只基金简单平均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5332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BF4040"/>
                </a:solidFill>
                <a:latin typeface="Microsoft YaHe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5332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回撤或波动触发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788920"/>
            <a:ext cx="2331720" cy="13258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59368" y="2953512"/>
            <a:ext cx="1929384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65707D"/>
                </a:solidFill>
                <a:latin typeface="Microsoft YaHei"/>
              </a:rPr>
              <a:t>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59368" y="3218687"/>
            <a:ext cx="1929384" cy="38404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98974"/>
                </a:solidFill>
                <a:latin typeface="Microsoft YaHei"/>
              </a:rPr>
              <a:t>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9368" y="3685031"/>
            <a:ext cx="1929384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真实数据失败数量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256032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今日风险判断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047488"/>
            <a:ext cx="10149840" cy="73152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248656"/>
            <a:ext cx="9555480" cy="31089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600" b="1">
                <a:solidFill>
                  <a:srgbClr val="BF4040"/>
                </a:solidFill>
                <a:latin typeface="Microsoft YaHei"/>
              </a:rPr>
              <a:t>存在高风险关注基金，建议复核 QDII 汇率、海外科技股估值与短期回撤。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RETURNS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收益表现：近1月分化明显，QDII 贡献主要波动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当日涨跌幅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31150" y="1792224"/>
            <a:ext cx="692009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-1.76%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02607" y="2176272"/>
            <a:ext cx="22055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68879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-0.56%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23160" y="2560320"/>
            <a:ext cx="596029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64909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1.51%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159509" y="2944368"/>
            <a:ext cx="26365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68879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-0.67%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423160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9475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3.37%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96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近1周收益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559651" y="1792224"/>
            <a:ext cx="475388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80760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-1.04%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5196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49689" y="2176272"/>
            <a:ext cx="38535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8076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-0.85%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5196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2560320"/>
            <a:ext cx="630547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11307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1.38%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5196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035040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709160" y="2944368"/>
            <a:ext cx="1325880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6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-2.91%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3328415"/>
            <a:ext cx="626203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06963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1.37%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63840" y="1371600"/>
            <a:ext cx="33832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近1个月收益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63840" y="1737360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华夏沪深300E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646919" y="1810512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646919" y="1792224"/>
            <a:ext cx="133739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826379" y="1746504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1.09%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863840" y="2121408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富国红利精选QD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646919" y="2194560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694437" y="2176272"/>
            <a:ext cx="952482" cy="146304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92640" y="2130552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-7.79%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63840" y="2505456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纳斯达克100指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46919" y="2578608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646919" y="2560320"/>
            <a:ext cx="303885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996525" y="2514600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2.48%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863840" y="2889503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兴全安泰积极养老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646919" y="2962656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646919" y="2944368"/>
            <a:ext cx="27255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965190" y="2898648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2.23%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863840" y="3273551"/>
            <a:ext cx="1078992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65707D"/>
                </a:solidFill>
                <a:latin typeface="Microsoft YaHei"/>
              </a:rPr>
              <a:t>易方达全球优质企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646919" y="3346703"/>
            <a:ext cx="9144" cy="118872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646919" y="3328415"/>
            <a:ext cx="1325880" cy="146304"/>
          </a:xfrm>
          <a:prstGeom prst="rect">
            <a:avLst/>
          </a:prstGeom>
          <a:solidFill>
            <a:srgbClr val="198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018519" y="3282696"/>
            <a:ext cx="50292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10.84%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0080" y="4160520"/>
            <a:ext cx="201168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基金净值状态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48056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基金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26280" y="448056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最新净值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8076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净值日期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18120" y="448056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数据源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800600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华夏沪深300ETF联接 (000051)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26280" y="4800600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1.8124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08076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2026-07-10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818120" y="4800600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40080" y="5102352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富国红利精选QDII (009108)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26280" y="5102352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1.8298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8076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2026-07-09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818120" y="5102352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0080" y="5404104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纳斯达克100指数QDII (015299)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526280" y="5404104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2.0669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08076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2026-07-09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818120" y="5404104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40080" y="5705856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兴全安泰积极养老五年FOF (010267)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526280" y="5705856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1.2618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08076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2026-07-08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818120" y="5705856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40080" y="6007608"/>
            <a:ext cx="365760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易方达全球优质企业QDII (018229)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4526280" y="6007608"/>
            <a:ext cx="132588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2.4574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08076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2026-07-09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818120" y="6007608"/>
            <a:ext cx="1417320" cy="1828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RISK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风险图谱：回撤与年化波动共同决定关注优先级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最大回撤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298448"/>
            <a:ext cx="457200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年化波动率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737360"/>
            <a:ext cx="1014438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8523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-6.28%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71907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737360"/>
            <a:ext cx="1125899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45952" y="171907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19.32%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33172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8523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-14.72%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31343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49640" y="2331720"/>
            <a:ext cx="856197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45952" y="231343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14.69%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88920" y="2926080"/>
            <a:ext cx="129947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8523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-8.05%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0779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2926080"/>
            <a:ext cx="1298736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045952" y="290779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22.29%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88920" y="3520440"/>
            <a:ext cx="1041872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8523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-6.45%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0215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49640" y="3520440"/>
            <a:ext cx="849058" cy="201168"/>
          </a:xfrm>
          <a:prstGeom prst="rect">
            <a:avLst/>
          </a:prstGeom>
          <a:solidFill>
            <a:srgbClr val="BF84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45952" y="350215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14.57%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88920" y="4114800"/>
            <a:ext cx="1654039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8523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-10.24%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96512"/>
            <a:ext cx="20574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49640" y="4114800"/>
            <a:ext cx="2377440" cy="201168"/>
          </a:xfrm>
          <a:prstGeom prst="rect">
            <a:avLst/>
          </a:prstGeom>
          <a:solidFill>
            <a:srgbClr val="BF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45952" y="4096512"/>
            <a:ext cx="685800" cy="219456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0">
                <a:solidFill>
                  <a:srgbClr val="1A2026"/>
                </a:solidFill>
                <a:latin typeface="Microsoft YaHei"/>
              </a:rPr>
              <a:t>40.80%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0080" y="5166360"/>
            <a:ext cx="10607040" cy="640080"/>
          </a:xfrm>
          <a:prstGeom prst="rect">
            <a:avLst/>
          </a:prstGeom>
          <a:solidFill>
            <a:srgbClr val="FFFDF8"/>
          </a:solidFill>
          <a:ln w="6350">
            <a:solidFill>
              <a:srgbClr val="DAD5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5340096"/>
            <a:ext cx="9966960" cy="256032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1">
                <a:solidFill>
                  <a:srgbClr val="BF4040"/>
                </a:solidFill>
                <a:latin typeface="Microsoft YaHei"/>
              </a:rPr>
              <a:t>高风险关注：富国红利精选QDII、易方达全球优质企业QDII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01752"/>
            <a:ext cx="201168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800" b="1">
                <a:solidFill>
                  <a:srgbClr val="65707D"/>
                </a:solidFill>
                <a:latin typeface="Microsoft YaHei"/>
              </a:rPr>
              <a:t>DELIVERY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8046720" cy="41148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400" b="1">
                <a:solidFill>
                  <a:srgbClr val="1A2026"/>
                </a:solidFill>
                <a:latin typeface="Microsoft YaHei"/>
              </a:rPr>
              <a:t>数据源与下载说明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42415"/>
            <a:ext cx="11201400" cy="9144"/>
          </a:xfrm>
          <a:prstGeom prst="rect">
            <a:avLst/>
          </a:prstGeom>
          <a:solidFill>
            <a:srgbClr val="DAD5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9875520" cy="36576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2000" b="1">
                <a:solidFill>
                  <a:srgbClr val="198974"/>
                </a:solidFill>
                <a:latin typeface="Microsoft YaHei"/>
              </a:rPr>
              <a:t>五只基金均使用 Eastmoney/Tiantian Fund 真实净值。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65960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PPTX 文件路径：reports/2026-07-12.pptx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59152"/>
            <a:ext cx="9875520" cy="32004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400" b="0">
                <a:solidFill>
                  <a:srgbClr val="1A2026"/>
                </a:solidFill>
                <a:latin typeface="Microsoft YaHei"/>
              </a:rPr>
              <a:t>Markdown 文件路径：reports/2026-07-12.md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063240"/>
            <a:ext cx="21031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1100" b="1">
                <a:solidFill>
                  <a:srgbClr val="1A2026"/>
                </a:solidFill>
                <a:latin typeface="Microsoft YaHei"/>
              </a:rPr>
              <a:t>数据新鲜度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74720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华夏沪深300ETF联接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03320" y="3474720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3474720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474720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858768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富国红利精选QDII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3858768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3858768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858768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242816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纳斯达克100指数QDII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4242816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2026-07-09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4242816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4242816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626864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兴全安泰积极养老五年FOF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626864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4626864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626864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842D"/>
                </a:solidFill>
                <a:latin typeface="Microsoft YaHei"/>
              </a:rPr>
              <a:t>中等波动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010912"/>
            <a:ext cx="27432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A2026"/>
                </a:solidFill>
                <a:latin typeface="Microsoft YaHei"/>
              </a:rPr>
              <a:t>易方达全球优质企业QDII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5010912"/>
            <a:ext cx="137160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2026-07-09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5010912"/>
            <a:ext cx="146304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198974"/>
                </a:solidFill>
                <a:latin typeface="Microsoft YaHei"/>
              </a:rPr>
              <a:t>Eastmoney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2011680" cy="201168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1">
                <a:solidFill>
                  <a:srgbClr val="BF4040"/>
                </a:solidFill>
                <a:latin typeface="Microsoft YaHei"/>
              </a:rPr>
              <a:t>高风险关注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742432"/>
            <a:ext cx="9875520" cy="228600"/>
          </a:xfrm>
          <a:prstGeom prst="rect">
            <a:avLst/>
          </a:prstGeom>
          <a:noFill/>
        </p:spPr>
        <p:txBody>
          <a:bodyPr wrap="none" lIns="18288" rIns="18288" tIns="18288" bIns="18288">
            <a:spAutoFit/>
          </a:bodyPr>
          <a:lstStyle/>
          <a:p>
            <a:r>
              <a:rPr sz="900" b="0">
                <a:solidFill>
                  <a:srgbClr val="65707D"/>
                </a:solidFill>
                <a:latin typeface="Microsoft YaHei"/>
              </a:rPr>
              <a:t>提示：本报告仅用于投资记录和风险监测，不构成收益保证或买卖建议。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